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b260b741154a4d" /><Relationship Type="http://schemas.openxmlformats.org/officeDocument/2006/relationships/extended-properties" Target="/docProps/app.xml" Id="Re9c1a1e510e84c9f" /><Relationship Type="http://schemas.openxmlformats.org/officeDocument/2006/relationships/officeDocument" Target="/ppt/presentation.xml" Id="Rb4f6349740c34036" /></Relationships>
</file>

<file path=ppt/presentation.xml><?xml version="1.0" encoding="utf-8"?>
<p:presentation xmlns:p="http://schemas.openxmlformats.org/presentationml/2006/main">
  <p:sldMasterIdLst>
    <p:sldMasterId xmlns:r="http://schemas.openxmlformats.org/officeDocument/2006/relationships" id="2147483648" r:id="R79dc32dff245470a"/>
  </p:sldMasterIdLst>
  <p:notesMasterIdLst>
    <p:notesMasterId xmlns:r="http://schemas.openxmlformats.org/officeDocument/2006/relationships" r:id="R36f090a961a94bf4"/>
  </p:notesMasterIdLst>
  <p:sldIdLst>
    <p:sldId xmlns:r="http://schemas.openxmlformats.org/officeDocument/2006/relationships" id="256" r:id="Ree1f49e3d824486f"/>
    <p:sldId xmlns:r="http://schemas.openxmlformats.org/officeDocument/2006/relationships" id="257" r:id="Rf04694a5992b43d6"/>
    <p:sldId xmlns:r="http://schemas.openxmlformats.org/officeDocument/2006/relationships" id="258" r:id="R22e71653fd274595"/>
    <p:sldId xmlns:r="http://schemas.openxmlformats.org/officeDocument/2006/relationships" id="259" r:id="R2c5736d1d55c48e4"/>
    <p:sldId xmlns:r="http://schemas.openxmlformats.org/officeDocument/2006/relationships" id="260" r:id="R84d77620707e4a14"/>
    <p:sldId xmlns:r="http://schemas.openxmlformats.org/officeDocument/2006/relationships" id="261" r:id="Rd3d8c664ad8d4236"/>
    <p:sldId xmlns:r="http://schemas.openxmlformats.org/officeDocument/2006/relationships" id="262" r:id="Re3495668cea64f5a"/>
    <p:sldId xmlns:r="http://schemas.openxmlformats.org/officeDocument/2006/relationships" id="263" r:id="R48027876620945bc"/>
    <p:sldId xmlns:r="http://schemas.openxmlformats.org/officeDocument/2006/relationships" id="264" r:id="R442429043d484152"/>
    <p:sldId xmlns:r="http://schemas.openxmlformats.org/officeDocument/2006/relationships" id="265" r:id="R75039138c5a3411b"/>
    <p:sldId xmlns:r="http://schemas.openxmlformats.org/officeDocument/2006/relationships" id="266" r:id="R11df4554254047b0"/>
    <p:sldId xmlns:r="http://schemas.openxmlformats.org/officeDocument/2006/relationships" id="267" r:id="R0d03bd7a850644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3ccaba6e1549a5" /><Relationship Type="http://schemas.openxmlformats.org/officeDocument/2006/relationships/slideMaster" Target="/ppt/slideMasters/slideMaster1.xml" Id="R79dc32dff245470a" /><Relationship Type="http://schemas.openxmlformats.org/officeDocument/2006/relationships/notesMaster" Target="/ppt/notesMasters/notesMaster1.xml" Id="R36f090a961a94bf4" /><Relationship Type="http://schemas.openxmlformats.org/officeDocument/2006/relationships/presProps" Target="/ppt/presProps.xml" Id="Rd454f1e4c05349ea" /><Relationship Type="http://schemas.openxmlformats.org/officeDocument/2006/relationships/tableStyles" Target="/ppt/tableStyles.xml" Id="R81d989f0a90e40da" /><Relationship Type="http://schemas.openxmlformats.org/officeDocument/2006/relationships/slide" Target="/ppt/slides/slide1.xml" Id="Ree1f49e3d824486f" /><Relationship Type="http://schemas.openxmlformats.org/officeDocument/2006/relationships/slide" Target="/ppt/slides/slide2.xml" Id="Rf04694a5992b43d6" /><Relationship Type="http://schemas.openxmlformats.org/officeDocument/2006/relationships/slide" Target="/ppt/slides/slide3.xml" Id="R22e71653fd274595" /><Relationship Type="http://schemas.openxmlformats.org/officeDocument/2006/relationships/slide" Target="/ppt/slides/slide4.xml" Id="R2c5736d1d55c48e4" /><Relationship Type="http://schemas.openxmlformats.org/officeDocument/2006/relationships/slide" Target="/ppt/slides/slide5.xml" Id="R84d77620707e4a14" /><Relationship Type="http://schemas.openxmlformats.org/officeDocument/2006/relationships/slide" Target="/ppt/slides/slide6.xml" Id="Rd3d8c664ad8d4236" /><Relationship Type="http://schemas.openxmlformats.org/officeDocument/2006/relationships/slide" Target="/ppt/slides/slide7.xml" Id="Re3495668cea64f5a" /><Relationship Type="http://schemas.openxmlformats.org/officeDocument/2006/relationships/slide" Target="/ppt/slides/slide8.xml" Id="R48027876620945bc" /><Relationship Type="http://schemas.openxmlformats.org/officeDocument/2006/relationships/slide" Target="/ppt/slides/slide9.xml" Id="R442429043d484152" /><Relationship Type="http://schemas.openxmlformats.org/officeDocument/2006/relationships/slide" Target="/ppt/slides/slide10.xml" Id="R75039138c5a3411b" /><Relationship Type="http://schemas.openxmlformats.org/officeDocument/2006/relationships/slide" Target="/ppt/slides/slide11.xml" Id="R11df4554254047b0" /><Relationship Type="http://schemas.openxmlformats.org/officeDocument/2006/relationships/slide" Target="/ppt/slides/slide12.xml" Id="R0d03bd7a850644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da72f809e0642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1c475766d94b0f" /><Relationship Type="http://schemas.openxmlformats.org/officeDocument/2006/relationships/notesMaster" Target="/ppt/notesMasters/notesMaster1.xml" Id="R05eda456845640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dafd12e3aa462e" /><Relationship Type="http://schemas.openxmlformats.org/officeDocument/2006/relationships/notesMaster" Target="/ppt/notesMasters/notesMaster1.xml" Id="Ra6d19f570d6340a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fa667ed58d4b0b" /><Relationship Type="http://schemas.openxmlformats.org/officeDocument/2006/relationships/notesMaster" Target="/ppt/notesMasters/notesMaster1.xml" Id="Rd9fe11010d3046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22bfd4fe3048e1" /><Relationship Type="http://schemas.openxmlformats.org/officeDocument/2006/relationships/notesMaster" Target="/ppt/notesMasters/notesMaster1.xml" Id="R3b5b9064897b48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ad3c8991294459" /><Relationship Type="http://schemas.openxmlformats.org/officeDocument/2006/relationships/notesMaster" Target="/ppt/notesMasters/notesMaster1.xml" Id="Rccfa4217a0da46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5a032eae174b57" /><Relationship Type="http://schemas.openxmlformats.org/officeDocument/2006/relationships/notesMaster" Target="/ppt/notesMasters/notesMaster1.xml" Id="Rf3e3cb0b0f054e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aac06302b6794825" /><Relationship Type="http://schemas.openxmlformats.org/officeDocument/2006/relationships/notesMaster" Target="/ppt/notesMasters/notesMaster1.xml" Id="R3f5339b009b64715" /></Relationships>
</file>

<file path=ppt/notesSlides/_rels/notesSlide8.xml.rels>&#65279;<?xml version="1.0" encoding="utf-8"?><Relationships xmlns="http://schemas.openxmlformats.org/package/2006/relationships"><Relationship Type="http://schemas.openxmlformats.org/officeDocument/2006/relationships/slide" Target="/ppt/slides/slide8.xml" Id="R5ff42bf9d9d547f2" /><Relationship Type="http://schemas.openxmlformats.org/officeDocument/2006/relationships/notesMaster" Target="/ppt/notesMasters/notesMaster1.xml" Id="Rbe0dd9c89320421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1322c2423f04ff3" /><Relationship Type="http://schemas.openxmlformats.org/officeDocument/2006/relationships/notesMaster" Target="/ppt/notesMasters/notesMaster1.xml" Id="R0aaeb3294afb42a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1d3e484fcd3444a" /><Relationship Type="http://schemas.openxmlformats.org/officeDocument/2006/relationships/notesMaster" Target="/ppt/notesMasters/notesMaster1.xml" Id="Rb0625f03bafb41b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9773cc6c6be4124" /><Relationship Type="http://schemas.openxmlformats.org/officeDocument/2006/relationships/notesMaster" Target="/ppt/notesMasters/notesMaster1.xml" Id="Rf4e4ba1cb46a401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caf864cebff449c" /><Relationship Type="http://schemas.openxmlformats.org/officeDocument/2006/relationships/notesMaster" Target="/ppt/notesMasters/notesMaster1.xml" Id="R0f7669a002fc49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yourself and the project. Explain that the original zeroth-review proposal is now implemented as an academic demonstration. Do not claim that it is a production ERP. The exact live storage mode must be stated: MongoDB or persistent local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uploaded ERP_Platform_Zeroth_Review.pptx, slides 2–8. The proposal describes disconnected systems, duplicated data and missing shared reporting. The implementation covers the five defined modules. Expected business benefits have not been measured in a live company.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React builds the browser interface. Express exposes a same-origin API and validates requests. Node.js runs authentication and business commands. MongoDB stores separate collections with transactions. The optional JSON adapter runs the same API and rules for a laptop demo. MongoDB transactions require a replica set. References: https://www.mongodb.com/docs/drivers/node/current/crud/transactions/ and https://expressjs.com/en/advanced/best-practice-security.html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dashboard. Explain that sales totals include demonstration tax and exclude draft/cancelled orders. The period selector affects the sales KPI. The chart always displays seven days. Inventory value uses current cost. Screenshot contains fictional sample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 create a sale for Horizon Studio, two Wireless keyboards at ₹1,499 each with 18% demonstration tax. Total: ₹3,537.64. Draft leaves stock unchanged. Confirm reduces stock from 42 to 40 in fresh sample data. Mark paid updates cash collected. Open and print the invoice. Confirmed unpaid orders can be cancelled to restore stock; paid orders cannot be cancelled. Screenshot contains fictional sample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 approve seeded PO-0001, then receive 20 USB-C hubs. Stock increases from 8 to 28. Finance receives a ₹32,000 unpaid expense. Receipt and payment are separate actions. Repeat receiving is blocked. Screenshot contains fictional sample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employees and the Attendance tab. Mark Rahul P Present. Run current-month payroll. Fresh data creates six base-salary records totalling ₹2,18,000 and matching unpaid finance expenses. Repeating payroll cannot duplicate the same employee-month. Attendance is informational and does not prorate salary. Statutory deductions are outside this implementation. Screenshot contains fictional sample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cash collected, cash paid out and expenses payable. Procurement and payroll create linked expenses. Mark an expense paid and show the cash-out update. Explain that this is basic financial reporting, not a double-entry general ledger. Invoice tax is illustrative. Purchase totals exclude tax. Screenshot contains fictional sample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 out and sign in with staff@nexus.demo and Demo@12345. Staff sees Inventory and Sales, but no HR or Finance. Hiding navigation is not the security boundary: server checks reject forbidden commands. Owners can create users. Managers have all business-module access. HR manages people/payroll and accountants manage finance/receivables. Passwords use salted scrypt hashes and are never returned by the API. Screenshot contains fictional sample accounts.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Nineteen integration scenarios plus their parent test passed in local demo mode and MongoDB replica-set mode. Browser checks completed the sale, invoice, purchase, attendance and payroll flows and checked staff navigation and mobile width. The project includes the executable test suite and an exact validation record. No load-testing, production security audit or business impact experiment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around seven minutes. Use docs/PRESENTATION_GUIDE.md for the detailed script, expected numbers and viva answers. Start from fresh seeded data if practising the exact quantity checks. Always keep the server terminal open. Use the screenshots if projection or laptop setup fails.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covers the original five modules and basic workflows. Explain limitations before questions. Default startup is a persistent local demo adapter. MongoDB mode is available and tested separately. The source proposal literature survey is generic; a formal thesis still needs selected, verified academic references. Do not invent research results, performance statistics or production readiness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3f922f70c747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aaa95801914e13" /><Relationship Type="http://schemas.openxmlformats.org/officeDocument/2006/relationships/slideLayout" Target="/ppt/slideLayouts/slideLayout1.xml" Id="R2991ac26a358464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91ac26a358464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0b0d4f758fc4a07" /><Relationship Type="http://schemas.openxmlformats.org/officeDocument/2006/relationships/notesSlide" Target="/ppt/notesSlides/notesSlide1.xml" Id="R8ca71db5f39a49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77ae42aca8f4946" /><Relationship Type="http://schemas.openxmlformats.org/officeDocument/2006/relationships/notesSlide" Target="/ppt/notesSlides/notesSlide2.xml" Id="R72b6aca3e67448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f53787525c4cfa" /><Relationship Type="http://schemas.openxmlformats.org/officeDocument/2006/relationships/notesSlide" Target="/ppt/notesSlides/notesSlide3.xml" Id="Rfd863c06ae3843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c1e1c7f921d43b7" /><Relationship Type="http://schemas.openxmlformats.org/officeDocument/2006/relationships/image" Target="/ppt/media/image.png" Id="Rbdf8c67be6024bab" /><Relationship Type="http://schemas.openxmlformats.org/officeDocument/2006/relationships/notesSlide" Target="/ppt/notesSlides/notesSlide4.xml" Id="R3abe733203e1487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7846c05c657472a" /><Relationship Type="http://schemas.openxmlformats.org/officeDocument/2006/relationships/image" Target="/ppt/media/image2.png" Id="R0977dc50a8c44242" /><Relationship Type="http://schemas.openxmlformats.org/officeDocument/2006/relationships/notesSlide" Target="/ppt/notesSlides/notesSlide5.xml" Id="R79b65faf920e4aa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84d50f0f75740b4" /><Relationship Type="http://schemas.openxmlformats.org/officeDocument/2006/relationships/image" Target="/ppt/media/image3.png" Id="R39d27bb81dd74888" /><Relationship Type="http://schemas.openxmlformats.org/officeDocument/2006/relationships/notesSlide" Target="/ppt/notesSlides/notesSlide6.xml" Id="R1d47f68672e044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853465895f64036" /><Relationship Type="http://schemas.openxmlformats.org/officeDocument/2006/relationships/image" Target="/ppt/media/image4.png" Id="R4ff361f8ae094b1d" /><Relationship Type="http://schemas.openxmlformats.org/officeDocument/2006/relationships/notesSlide" Target="/ppt/notesSlides/notesSlide7.xml" Id="Rad72a1ac8e2e4f4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01ef0a51b684290" /><Relationship Type="http://schemas.openxmlformats.org/officeDocument/2006/relationships/image" Target="/ppt/media/image5.png" Id="Rc69c48e1f60e49ca" /><Relationship Type="http://schemas.openxmlformats.org/officeDocument/2006/relationships/notesSlide" Target="/ppt/notesSlides/notesSlide8.xml" Id="Rf14621503823490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443698cfd7a4bdf" /><Relationship Type="http://schemas.openxmlformats.org/officeDocument/2006/relationships/image" Target="/ppt/media/image6.png" Id="Rcd0886a2a34a403d" /><Relationship Type="http://schemas.openxmlformats.org/officeDocument/2006/relationships/notesSlide" Target="/ppt/notesSlides/notesSlide9.xml" Id="R3c669697ca99474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ff2e09ce520456f" /><Relationship Type="http://schemas.openxmlformats.org/officeDocument/2006/relationships/notesSlide" Target="/ppt/notesSlides/notesSlide10.xml" Id="R9ae731a07cb24b4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0597ef2a9a44c38" /><Relationship Type="http://schemas.openxmlformats.org/officeDocument/2006/relationships/notesSlide" Target="/ppt/notesSlides/notesSlide11.xml" Id="R9df5375b065145e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52743e896ec43f6" /><Relationship Type="http://schemas.openxmlformats.org/officeDocument/2006/relationships/notesSlide" Target="/ppt/notesSlides/notesSlide12.xml" Id="R22f45149c1594270" /></Relationships>
</file>

<file path=ppt/slides/slide1.xml><?xml version="1.0" encoding="utf-8"?>
<p:sld xmlns:p="http://schemas.openxmlformats.org/presentationml/2006/main">
  <p:cSld>
    <p:bg>
      <p:bgPr>
        <a:solidFill xmlns:a="http://schemas.openxmlformats.org/drawingml/2006/main">
          <a:srgbClr val="102D2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CA2E24E-C3B2-486F-A4C1-F13AFE977D17}"/>
              </a:ext>
            </a:extLst>
          </p:cNvPr>
          <p:cNvSpPr>
            <a:spLocks xmlns:a="http://schemas.openxmlformats.org/drawingml/2006/main" noGrp="1"/>
          </p:cNvSpPr>
          <p:nvPr/>
        </p:nvSpPr>
        <p:spPr>
          <a:xfrm xmlns:a="http://schemas.openxmlformats.org/drawingml/2006/main">
            <a:off x="628650" y="58102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A8EBC0"/>
                </a:solidFill>
                <a:latin typeface="Bitstream Charter"/>
                <a:ea typeface="Bitstream Charter"/>
                <a:cs typeface="Bitstream Charter"/>
              </a:defRPr>
            </a:pPr>
            <a:r>
              <a:rPr sz="2250" b="1">
                <a:solidFill>
                  <a:srgbClr val="A8EBC0"/>
                </a:solidFill>
                <a:latin typeface="Bitstream Charter"/>
                <a:ea typeface="Bitstream Charter"/>
                <a:cs typeface="Bitstream Charter"/>
              </a:rPr>
              <a:t>NEXUS ERP</a:t>
            </a:r>
          </a:p>
        </p:txBody>
      </p:sp>
      <p:sp>
        <p:nvSpPr>
          <p:cNvPr id="2" name="">
            <a:extLst xmlns:a="http://schemas.openxmlformats.org/drawingml/2006/main">
              <a:ext uri="{FF2B5EF4-FFF2-40B4-BE49-F238E27FC236}">
                <a16:creationId xmlns:a16="http://schemas.microsoft.com/office/drawing/2014/main" id="{B1571D7D-3C07-45E4-8FFE-0B2B6D287F49}"/>
              </a:ext>
            </a:extLst>
          </p:cNvPr>
          <p:cNvSpPr>
            <a:spLocks xmlns:a="http://schemas.openxmlformats.org/drawingml/2006/main" noGrp="1"/>
          </p:cNvSpPr>
          <p:nvPr/>
        </p:nvSpPr>
        <p:spPr>
          <a:xfrm xmlns:a="http://schemas.openxmlformats.org/drawingml/2006/main">
            <a:off x="628650" y="1695450"/>
            <a:ext cx="107632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FFFFF"/>
                </a:solidFill>
                <a:latin typeface="Bitstream Charter"/>
                <a:ea typeface="Bitstream Charter"/>
                <a:cs typeface="Bitstream Charter"/>
              </a:defRPr>
            </a:pPr>
            <a:r>
              <a:rPr sz="4500" b="1">
                <a:solidFill>
                  <a:srgbClr val="FFFFFF"/>
                </a:solidFill>
                <a:latin typeface="Bitstream Charter"/>
                <a:ea typeface="Bitstream Charter"/>
                <a:cs typeface="Bitstream Charter"/>
              </a:rPr>
              <a:t>Centralized ERP Platform</a:t>
            </a:r>
          </a:p>
          <a:p xmlns:a="http://schemas.openxmlformats.org/drawingml/2006/main">
            <a:pPr>
              <a:defRPr sz="4500" b="1">
                <a:solidFill>
                  <a:srgbClr val="FFFFFF"/>
                </a:solidFill>
                <a:latin typeface="Bitstream Charter"/>
                <a:ea typeface="Bitstream Charter"/>
                <a:cs typeface="Bitstream Charter"/>
              </a:defRPr>
            </a:pPr>
            <a:r>
              <a:rPr sz="4500" b="1">
                <a:solidFill>
                  <a:srgbClr val="FFFFFF"/>
                </a:solidFill>
                <a:latin typeface="Bitstream Charter"/>
                <a:ea typeface="Bitstream Charter"/>
                <a:cs typeface="Bitstream Charter"/>
              </a:rPr>
              <a:t>for Small and Medium</a:t>
            </a:r>
          </a:p>
          <a:p xmlns:a="http://schemas.openxmlformats.org/drawingml/2006/main">
            <a:pPr>
              <a:defRPr sz="4500" b="1">
                <a:solidFill>
                  <a:srgbClr val="FFFFFF"/>
                </a:solidFill>
                <a:latin typeface="Bitstream Charter"/>
                <a:ea typeface="Bitstream Charter"/>
                <a:cs typeface="Bitstream Charter"/>
              </a:defRPr>
            </a:pPr>
            <a:r>
              <a:rPr sz="4500" b="1">
                <a:solidFill>
                  <a:srgbClr val="FFFFFF"/>
                </a:solidFill>
                <a:latin typeface="Bitstream Charter"/>
                <a:ea typeface="Bitstream Charter"/>
                <a:cs typeface="Bitstream Charter"/>
              </a:rPr>
              <a:t>Businesses</a:t>
            </a:r>
          </a:p>
        </p:txBody>
      </p:sp>
      <p:sp>
        <p:nvSpPr>
          <p:cNvPr id="3" name="">
            <a:extLst xmlns:a="http://schemas.openxmlformats.org/drawingml/2006/main">
              <a:ext uri="{FF2B5EF4-FFF2-40B4-BE49-F238E27FC236}">
                <a16:creationId xmlns:a16="http://schemas.microsoft.com/office/drawing/2014/main" id="{8B934D85-28A8-46F6-8FCB-F765797E06B9}"/>
              </a:ext>
            </a:extLst>
          </p:cNvPr>
          <p:cNvSpPr>
            <a:spLocks xmlns:a="http://schemas.openxmlformats.org/drawingml/2006/main" noGrp="1"/>
          </p:cNvSpPr>
          <p:nvPr/>
        </p:nvSpPr>
        <p:spPr>
          <a:xfrm xmlns:a="http://schemas.openxmlformats.org/drawingml/2006/main">
            <a:off x="666750" y="44958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BAD7C6"/>
                </a:solidFill>
                <a:latin typeface="Bitstream Charter"/>
                <a:ea typeface="Bitstream Charter"/>
                <a:cs typeface="Bitstream Charter"/>
              </a:defRPr>
            </a:pPr>
            <a:r>
              <a:rPr sz="2175" b="0">
                <a:solidFill>
                  <a:srgbClr val="BAD7C6"/>
                </a:solidFill>
                <a:latin typeface="Bitstream Charter"/>
                <a:ea typeface="Bitstream Charter"/>
                <a:cs typeface="Bitstream Charter"/>
              </a:rPr>
              <a:t>Implementation and live demonstration</a:t>
            </a:r>
          </a:p>
        </p:txBody>
      </p:sp>
      <p:sp>
        <p:nvSpPr>
          <p:cNvPr id="4" name="">
            <a:extLst xmlns:a="http://schemas.openxmlformats.org/drawingml/2006/main">
              <a:ext uri="{FF2B5EF4-FFF2-40B4-BE49-F238E27FC236}">
                <a16:creationId xmlns:a16="http://schemas.microsoft.com/office/drawing/2014/main" id="{356491CA-F8FC-4F3B-9489-43308CAC5438}"/>
              </a:ext>
            </a:extLst>
          </p:cNvPr>
          <p:cNvSpPr>
            <a:spLocks xmlns:a="http://schemas.openxmlformats.org/drawingml/2006/main" noGrp="1"/>
          </p:cNvSpPr>
          <p:nvPr/>
        </p:nvSpPr>
        <p:spPr>
          <a:xfrm xmlns:a="http://schemas.openxmlformats.org/drawingml/2006/main">
            <a:off x="666750" y="55530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E3F0E8"/>
                </a:solidFill>
                <a:latin typeface="Bitstream Charter"/>
                <a:ea typeface="Bitstream Charter"/>
                <a:cs typeface="Bitstream Charter"/>
              </a:defRPr>
            </a:pPr>
            <a:r>
              <a:rPr sz="1875" b="0">
                <a:solidFill>
                  <a:srgbClr val="E3F0E8"/>
                </a:solidFill>
                <a:latin typeface="Bitstream Charter"/>
                <a:ea typeface="Bitstream Charter"/>
                <a:cs typeface="Bitstream Charter"/>
              </a:rPr>
              <a:t>Pradeesh A   ·   310624104225   ·   CSE D</a:t>
            </a:r>
          </a:p>
        </p:txBody>
      </p:sp>
      <p:sp>
        <p:nvSpPr>
          <p:cNvPr id="5" name="">
            <a:extLst xmlns:a="http://schemas.openxmlformats.org/drawingml/2006/main">
              <a:ext uri="{FF2B5EF4-FFF2-40B4-BE49-F238E27FC236}">
                <a16:creationId xmlns:a16="http://schemas.microsoft.com/office/drawing/2014/main" id="{B94F50E8-B4D5-492E-B5D1-2FCAFE0905FF}"/>
              </a:ext>
            </a:extLst>
          </p:cNvPr>
          <p:cNvSpPr>
            <a:spLocks xmlns:a="http://schemas.openxmlformats.org/drawingml/2006/main" noGrp="1"/>
          </p:cNvSpPr>
          <p:nvPr/>
        </p:nvSpPr>
        <p:spPr>
          <a:xfrm xmlns:a="http://schemas.openxmlformats.org/drawingml/2006/main">
            <a:off x="666750" y="60007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9DBEAB"/>
                </a:solidFill>
                <a:latin typeface="Bitstream Charter"/>
                <a:ea typeface="Bitstream Charter"/>
                <a:cs typeface="Bitstream Charter"/>
              </a:defRPr>
            </a:pPr>
            <a:r>
              <a:rPr sz="1650" b="0">
                <a:solidFill>
                  <a:srgbClr val="9DBEAB"/>
                </a:solidFill>
                <a:latin typeface="Bitstream Charter"/>
                <a:ea typeface="Bitstream Charter"/>
                <a:cs typeface="Bitstream Charter"/>
              </a:rPr>
              <a:t>Guide: Ms. Nagamani</a:t>
            </a:r>
          </a:p>
        </p:txBody>
      </p:sp>
    </p:spTree>
    <p:extLst>
      <p:ext uri="{BB962C8B-B14F-4D97-AF65-F5344CB8AC3E}">
        <p14:creationId xmlns:p14="http://schemas.microsoft.com/office/powerpoint/2010/main" val="185294120"/>
      </p:ext>
    </p:extLst>
  </p:cSld>
</p:sld>
</file>

<file path=ppt/slides/slide2.xml><?xml version="1.0" encoding="utf-8"?>
<p:sld xmlns:p="http://schemas.openxmlformats.org/presentationml/2006/main">
  <p:cSld>
    <p:bg>
      <p:bgPr>
        <a:solidFill xmlns:a="http://schemas.openxmlformats.org/drawingml/2006/main">
          <a:srgbClr val="F9FBF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14019AD-138E-407F-9C20-0A4CA2995DA6}"/>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E2B"/>
                </a:solidFill>
                <a:latin typeface="Bitstream Charter"/>
                <a:ea typeface="Bitstream Charter"/>
                <a:cs typeface="Bitstream Charter"/>
              </a:defRPr>
            </a:pPr>
            <a:r>
              <a:rPr sz="3150" b="1">
                <a:solidFill>
                  <a:srgbClr val="173E2B"/>
                </a:solidFill>
                <a:latin typeface="Bitstream Charter"/>
                <a:ea typeface="Bitstream Charter"/>
                <a:cs typeface="Bitstream Charter"/>
              </a:rPr>
              <a:t>Problem and project scope</a:t>
            </a:r>
          </a:p>
        </p:txBody>
      </p:sp>
      <p:sp>
        <p:nvSpPr>
          <p:cNvPr id="2" name="">
            <a:extLst xmlns:a="http://schemas.openxmlformats.org/drawingml/2006/main">
              <a:ext uri="{FF2B5EF4-FFF2-40B4-BE49-F238E27FC236}">
                <a16:creationId xmlns:a16="http://schemas.microsoft.com/office/drawing/2014/main" id="{0DD5EECD-C1F8-4B49-A0E2-27BA8FA4EA3E}"/>
              </a:ext>
            </a:extLst>
          </p:cNvPr>
          <p:cNvSpPr>
            <a:spLocks xmlns:a="http://schemas.openxmlformats.org/drawingml/2006/main" noGrp="1"/>
          </p:cNvSpPr>
          <p:nvPr/>
        </p:nvSpPr>
        <p:spPr>
          <a:xfrm xmlns:a="http://schemas.openxmlformats.org/drawingml/2006/main">
            <a:off x="11239500" y="63531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8C9D90"/>
                </a:solidFill>
                <a:latin typeface="Bitstream Charter"/>
                <a:ea typeface="Bitstream Charter"/>
                <a:cs typeface="Bitstream Charter"/>
              </a:defRPr>
            </a:pPr>
            <a:r>
              <a:rPr sz="1275" b="0">
                <a:solidFill>
                  <a:srgbClr val="8C9D90"/>
                </a:solidFill>
                <a:latin typeface="Bitstream Charter"/>
                <a:ea typeface="Bitstream Charter"/>
                <a:cs typeface="Bitstream Charter"/>
              </a:rPr>
              <a:t>02</a:t>
            </a:r>
          </a:p>
        </p:txBody>
      </p:sp>
      <p:sp>
        <p:nvSpPr>
          <p:cNvPr id="3" name="">
            <a:extLst xmlns:a="http://schemas.openxmlformats.org/drawingml/2006/main">
              <a:ext uri="{FF2B5EF4-FFF2-40B4-BE49-F238E27FC236}">
                <a16:creationId xmlns:a16="http://schemas.microsoft.com/office/drawing/2014/main" id="{78C12F89-3697-4821-854C-A3E150AC9D3A}"/>
              </a:ext>
            </a:extLst>
          </p:cNvPr>
          <p:cNvSpPr>
            <a:spLocks xmlns:a="http://schemas.openxmlformats.org/drawingml/2006/main" noGrp="1"/>
          </p:cNvSpPr>
          <p:nvPr/>
        </p:nvSpPr>
        <p:spPr>
          <a:xfrm xmlns:a="http://schemas.openxmlformats.org/drawingml/2006/main">
            <a:off x="609600" y="16192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37A4A"/>
                </a:solidFill>
                <a:latin typeface="Bitstream Charter"/>
                <a:ea typeface="Bitstream Charter"/>
                <a:cs typeface="Bitstream Charter"/>
              </a:defRPr>
            </a:pPr>
            <a:r>
              <a:rPr sz="1950" b="1">
                <a:solidFill>
                  <a:srgbClr val="237A4A"/>
                </a:solidFill>
                <a:latin typeface="Bitstream Charter"/>
                <a:ea typeface="Bitstream Charter"/>
                <a:cs typeface="Bitstream Charter"/>
              </a:rPr>
              <a:t>Disconnected records</a:t>
            </a:r>
          </a:p>
        </p:txBody>
      </p:sp>
      <p:sp>
        <p:nvSpPr>
          <p:cNvPr id="4" name="">
            <a:extLst xmlns:a="http://schemas.openxmlformats.org/drawingml/2006/main">
              <a:ext uri="{FF2B5EF4-FFF2-40B4-BE49-F238E27FC236}">
                <a16:creationId xmlns:a16="http://schemas.microsoft.com/office/drawing/2014/main" id="{9618CBDD-6C5D-4806-911C-7BE58A874EDF}"/>
              </a:ext>
            </a:extLst>
          </p:cNvPr>
          <p:cNvSpPr>
            <a:spLocks xmlns:a="http://schemas.openxmlformats.org/drawingml/2006/main" noGrp="1"/>
          </p:cNvSpPr>
          <p:nvPr/>
        </p:nvSpPr>
        <p:spPr>
          <a:xfrm xmlns:a="http://schemas.openxmlformats.org/drawingml/2006/main">
            <a:off x="3924300" y="161925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95744"/>
                </a:solidFill>
                <a:latin typeface="Bitstream Charter"/>
                <a:ea typeface="Bitstream Charter"/>
                <a:cs typeface="Bitstream Charter"/>
              </a:defRPr>
            </a:pPr>
            <a:r>
              <a:rPr sz="1875" b="0">
                <a:solidFill>
                  <a:srgbClr val="395744"/>
                </a:solidFill>
                <a:latin typeface="Bitstream Charter"/>
                <a:ea typeface="Bitstream Charter"/>
                <a:cs typeface="Bitstream Charter"/>
              </a:rPr>
              <a:t>Separate spreadsheets make stock, sales and expenses difficult to reconcile.</a:t>
            </a:r>
          </a:p>
        </p:txBody>
      </p:sp>
      <p:sp>
        <p:nvSpPr>
          <p:cNvPr id="5" name="">
            <a:extLst xmlns:a="http://schemas.openxmlformats.org/drawingml/2006/main">
              <a:ext uri="{FF2B5EF4-FFF2-40B4-BE49-F238E27FC236}">
                <a16:creationId xmlns:a16="http://schemas.microsoft.com/office/drawing/2014/main" id="{A033BE93-3B8F-4612-AE2C-5520971992F9}"/>
              </a:ext>
            </a:extLst>
          </p:cNvPr>
          <p:cNvSpPr>
            <a:spLocks xmlns:a="http://schemas.openxmlformats.org/drawingml/2006/main" noGrp="1"/>
          </p:cNvSpPr>
          <p:nvPr/>
        </p:nvSpPr>
        <p:spPr>
          <a:xfrm xmlns:a="http://schemas.openxmlformats.org/drawingml/2006/main">
            <a:off x="609600" y="25908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37A4A"/>
                </a:solidFill>
                <a:latin typeface="Bitstream Charter"/>
                <a:ea typeface="Bitstream Charter"/>
                <a:cs typeface="Bitstream Charter"/>
              </a:defRPr>
            </a:pPr>
            <a:r>
              <a:rPr sz="1950" b="1">
                <a:solidFill>
                  <a:srgbClr val="237A4A"/>
                </a:solidFill>
                <a:latin typeface="Bitstream Charter"/>
                <a:ea typeface="Bitstream Charter"/>
                <a:cs typeface="Bitstream Charter"/>
              </a:rPr>
              <a:t>One shared workspace</a:t>
            </a:r>
          </a:p>
        </p:txBody>
      </p:sp>
      <p:sp>
        <p:nvSpPr>
          <p:cNvPr id="6" name="">
            <a:extLst xmlns:a="http://schemas.openxmlformats.org/drawingml/2006/main">
              <a:ext uri="{FF2B5EF4-FFF2-40B4-BE49-F238E27FC236}">
                <a16:creationId xmlns:a16="http://schemas.microsoft.com/office/drawing/2014/main" id="{F6E74C85-B4D5-4D7D-974D-2AFD6E191AD6}"/>
              </a:ext>
            </a:extLst>
          </p:cNvPr>
          <p:cNvSpPr>
            <a:spLocks xmlns:a="http://schemas.openxmlformats.org/drawingml/2006/main" noGrp="1"/>
          </p:cNvSpPr>
          <p:nvPr/>
        </p:nvSpPr>
        <p:spPr>
          <a:xfrm xmlns:a="http://schemas.openxmlformats.org/drawingml/2006/main">
            <a:off x="3924300" y="259080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95744"/>
                </a:solidFill>
                <a:latin typeface="Bitstream Charter"/>
                <a:ea typeface="Bitstream Charter"/>
                <a:cs typeface="Bitstream Charter"/>
              </a:defRPr>
            </a:pPr>
            <a:r>
              <a:rPr sz="1875" b="0">
                <a:solidFill>
                  <a:srgbClr val="395744"/>
                </a:solidFill>
                <a:latin typeface="Bitstream Charter"/>
                <a:ea typeface="Bitstream Charter"/>
                <a:cs typeface="Bitstream Charter"/>
              </a:rPr>
              <a:t>Inventory, sales, HR, finance and procurement use connected records.</a:t>
            </a:r>
          </a:p>
        </p:txBody>
      </p:sp>
      <p:sp>
        <p:nvSpPr>
          <p:cNvPr id="7" name="">
            <a:extLst xmlns:a="http://schemas.openxmlformats.org/drawingml/2006/main">
              <a:ext uri="{FF2B5EF4-FFF2-40B4-BE49-F238E27FC236}">
                <a16:creationId xmlns:a16="http://schemas.microsoft.com/office/drawing/2014/main" id="{72CE5A7B-4441-45E8-B7CD-AD47AF1C5775}"/>
              </a:ext>
            </a:extLst>
          </p:cNvPr>
          <p:cNvSpPr>
            <a:spLocks xmlns:a="http://schemas.openxmlformats.org/drawingml/2006/main" noGrp="1"/>
          </p:cNvSpPr>
          <p:nvPr/>
        </p:nvSpPr>
        <p:spPr>
          <a:xfrm xmlns:a="http://schemas.openxmlformats.org/drawingml/2006/main">
            <a:off x="609600" y="35623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37A4A"/>
                </a:solidFill>
                <a:latin typeface="Bitstream Charter"/>
                <a:ea typeface="Bitstream Charter"/>
                <a:cs typeface="Bitstream Charter"/>
              </a:defRPr>
            </a:pPr>
            <a:r>
              <a:rPr sz="1950" b="1">
                <a:solidFill>
                  <a:srgbClr val="237A4A"/>
                </a:solidFill>
                <a:latin typeface="Bitstream Charter"/>
                <a:ea typeface="Bitstream Charter"/>
                <a:cs typeface="Bitstream Charter"/>
              </a:rPr>
              <a:t>Role-based access</a:t>
            </a:r>
          </a:p>
        </p:txBody>
      </p:sp>
      <p:sp>
        <p:nvSpPr>
          <p:cNvPr id="8" name="">
            <a:extLst xmlns:a="http://schemas.openxmlformats.org/drawingml/2006/main">
              <a:ext uri="{FF2B5EF4-FFF2-40B4-BE49-F238E27FC236}">
                <a16:creationId xmlns:a16="http://schemas.microsoft.com/office/drawing/2014/main" id="{0F6DEB50-2732-460D-8C95-E8FD4FA39804}"/>
              </a:ext>
            </a:extLst>
          </p:cNvPr>
          <p:cNvSpPr>
            <a:spLocks xmlns:a="http://schemas.openxmlformats.org/drawingml/2006/main" noGrp="1"/>
          </p:cNvSpPr>
          <p:nvPr/>
        </p:nvSpPr>
        <p:spPr>
          <a:xfrm xmlns:a="http://schemas.openxmlformats.org/drawingml/2006/main">
            <a:off x="3924300" y="356235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95744"/>
                </a:solidFill>
                <a:latin typeface="Bitstream Charter"/>
                <a:ea typeface="Bitstream Charter"/>
                <a:cs typeface="Bitstream Charter"/>
              </a:defRPr>
            </a:pPr>
            <a:r>
              <a:rPr sz="1875" b="0">
                <a:solidFill>
                  <a:srgbClr val="395744"/>
                </a:solidFill>
                <a:latin typeface="Bitstream Charter"/>
                <a:ea typeface="Bitstream Charter"/>
                <a:cs typeface="Bitstream Charter"/>
              </a:rPr>
              <a:t>Owners, managers and departmental users receive appropriate access.</a:t>
            </a:r>
          </a:p>
        </p:txBody>
      </p:sp>
      <p:sp>
        <p:nvSpPr>
          <p:cNvPr id="9" name="">
            <a:extLst xmlns:a="http://schemas.openxmlformats.org/drawingml/2006/main">
              <a:ext uri="{FF2B5EF4-FFF2-40B4-BE49-F238E27FC236}">
                <a16:creationId xmlns:a16="http://schemas.microsoft.com/office/drawing/2014/main" id="{9D857192-566B-49CD-8DCF-D51414529489}"/>
              </a:ext>
            </a:extLst>
          </p:cNvPr>
          <p:cNvSpPr>
            <a:spLocks xmlns:a="http://schemas.openxmlformats.org/drawingml/2006/main" noGrp="1"/>
          </p:cNvSpPr>
          <p:nvPr/>
        </p:nvSpPr>
        <p:spPr>
          <a:xfrm xmlns:a="http://schemas.openxmlformats.org/drawingml/2006/main">
            <a:off x="609600" y="45339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37A4A"/>
                </a:solidFill>
                <a:latin typeface="Bitstream Charter"/>
                <a:ea typeface="Bitstream Charter"/>
                <a:cs typeface="Bitstream Charter"/>
              </a:defRPr>
            </a:pPr>
            <a:r>
              <a:rPr sz="1950" b="1">
                <a:solidFill>
                  <a:srgbClr val="237A4A"/>
                </a:solidFill>
                <a:latin typeface="Bitstream Charter"/>
                <a:ea typeface="Bitstream Charter"/>
                <a:cs typeface="Bitstream Charter"/>
              </a:rPr>
              <a:t>Defined boundaries</a:t>
            </a:r>
          </a:p>
        </p:txBody>
      </p:sp>
      <p:sp>
        <p:nvSpPr>
          <p:cNvPr id="10" name="">
            <a:extLst xmlns:a="http://schemas.openxmlformats.org/drawingml/2006/main">
              <a:ext uri="{FF2B5EF4-FFF2-40B4-BE49-F238E27FC236}">
                <a16:creationId xmlns:a16="http://schemas.microsoft.com/office/drawing/2014/main" id="{56F0FDDB-D3F3-476D-8EDF-F233375F5C5A}"/>
              </a:ext>
            </a:extLst>
          </p:cNvPr>
          <p:cNvSpPr>
            <a:spLocks xmlns:a="http://schemas.openxmlformats.org/drawingml/2006/main" noGrp="1"/>
          </p:cNvSpPr>
          <p:nvPr/>
        </p:nvSpPr>
        <p:spPr>
          <a:xfrm xmlns:a="http://schemas.openxmlformats.org/drawingml/2006/main">
            <a:off x="3924300" y="453390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95744"/>
                </a:solidFill>
                <a:latin typeface="Bitstream Charter"/>
                <a:ea typeface="Bitstream Charter"/>
                <a:cs typeface="Bitstream Charter"/>
              </a:defRPr>
            </a:pPr>
            <a:r>
              <a:rPr sz="1875" b="0">
                <a:solidFill>
                  <a:srgbClr val="395744"/>
                </a:solidFill>
                <a:latin typeface="Bitstream Charter"/>
                <a:ea typeface="Bitstream Charter"/>
                <a:cs typeface="Bitstream Charter"/>
              </a:rPr>
              <a:t>Payment gateways and external accounting remain future work.</a:t>
            </a:r>
          </a:p>
        </p:txBody>
      </p:sp>
    </p:spTree>
    <p:extLst>
      <p:ext uri="{BB962C8B-B14F-4D97-AF65-F5344CB8AC3E}">
        <p14:creationId xmlns:p14="http://schemas.microsoft.com/office/powerpoint/2010/main" val="1122825307"/>
      </p:ext>
    </p:extLst>
  </p:cSld>
</p:sld>
</file>

<file path=ppt/slides/slide3.xml><?xml version="1.0" encoding="utf-8"?>
<p:sld xmlns:p="http://schemas.openxmlformats.org/presentationml/2006/main">
  <p:cSld>
    <p:bg>
      <p:bgPr>
        <a:solidFill xmlns:a="http://schemas.openxmlformats.org/drawingml/2006/main">
          <a:srgbClr val="F9FBF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C4F75AE-5352-4BFE-93C3-434374D7DEA4}"/>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E2B"/>
                </a:solidFill>
                <a:latin typeface="Bitstream Charter"/>
                <a:ea typeface="Bitstream Charter"/>
                <a:cs typeface="Bitstream Charter"/>
              </a:defRPr>
            </a:pPr>
            <a:r>
              <a:rPr sz="3150" b="1">
                <a:solidFill>
                  <a:srgbClr val="173E2B"/>
                </a:solidFill>
                <a:latin typeface="Bitstream Charter"/>
                <a:ea typeface="Bitstream Charter"/>
                <a:cs typeface="Bitstream Charter"/>
              </a:rPr>
              <a:t>Application architecture</a:t>
            </a:r>
          </a:p>
        </p:txBody>
      </p:sp>
      <p:sp>
        <p:nvSpPr>
          <p:cNvPr id="2" name="">
            <a:extLst xmlns:a="http://schemas.openxmlformats.org/drawingml/2006/main">
              <a:ext uri="{FF2B5EF4-FFF2-40B4-BE49-F238E27FC236}">
                <a16:creationId xmlns:a16="http://schemas.microsoft.com/office/drawing/2014/main" id="{A3C26BA0-2056-4CC0-BC42-E6427C4FE1C4}"/>
              </a:ext>
            </a:extLst>
          </p:cNvPr>
          <p:cNvSpPr>
            <a:spLocks xmlns:a="http://schemas.openxmlformats.org/drawingml/2006/main" noGrp="1"/>
          </p:cNvSpPr>
          <p:nvPr/>
        </p:nvSpPr>
        <p:spPr>
          <a:xfrm xmlns:a="http://schemas.openxmlformats.org/drawingml/2006/main">
            <a:off x="11239500" y="63531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8C9D90"/>
                </a:solidFill>
                <a:latin typeface="Bitstream Charter"/>
                <a:ea typeface="Bitstream Charter"/>
                <a:cs typeface="Bitstream Charter"/>
              </a:defRPr>
            </a:pPr>
            <a:r>
              <a:rPr sz="1275" b="0">
                <a:solidFill>
                  <a:srgbClr val="8C9D90"/>
                </a:solidFill>
                <a:latin typeface="Bitstream Charter"/>
                <a:ea typeface="Bitstream Charter"/>
                <a:cs typeface="Bitstream Charter"/>
              </a:rPr>
              <a:t>03</a:t>
            </a:r>
          </a:p>
        </p:txBody>
      </p:sp>
      <p:sp>
        <p:nvSpPr>
          <p:cNvPr id="3" name="">
            <a:extLst xmlns:a="http://schemas.openxmlformats.org/drawingml/2006/main">
              <a:ext uri="{FF2B5EF4-FFF2-40B4-BE49-F238E27FC236}">
                <a16:creationId xmlns:a16="http://schemas.microsoft.com/office/drawing/2014/main" id="{4DDE4AD8-AABA-463D-BFCC-67D840863965}"/>
              </a:ext>
            </a:extLst>
          </p:cNvPr>
          <p:cNvSpPr>
            <a:spLocks xmlns:a="http://schemas.openxmlformats.org/drawingml/2006/main" noGrp="1"/>
          </p:cNvSpPr>
          <p:nvPr/>
        </p:nvSpPr>
        <p:spPr>
          <a:xfrm xmlns:a="http://schemas.openxmlformats.org/drawingml/2006/main">
            <a:off x="609600" y="16192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37A4A"/>
                </a:solidFill>
                <a:latin typeface="Bitstream Charter"/>
                <a:ea typeface="Bitstream Charter"/>
                <a:cs typeface="Bitstream Charter"/>
              </a:defRPr>
            </a:pPr>
            <a:r>
              <a:rPr sz="1950" b="1">
                <a:solidFill>
                  <a:srgbClr val="237A4A"/>
                </a:solidFill>
                <a:latin typeface="Bitstream Charter"/>
                <a:ea typeface="Bitstream Charter"/>
                <a:cs typeface="Bitstream Charter"/>
              </a:rPr>
              <a:t>React</a:t>
            </a:r>
          </a:p>
        </p:txBody>
      </p:sp>
      <p:sp>
        <p:nvSpPr>
          <p:cNvPr id="4" name="">
            <a:extLst xmlns:a="http://schemas.openxmlformats.org/drawingml/2006/main">
              <a:ext uri="{FF2B5EF4-FFF2-40B4-BE49-F238E27FC236}">
                <a16:creationId xmlns:a16="http://schemas.microsoft.com/office/drawing/2014/main" id="{405D9FAE-2277-44F3-BEE6-2517D239862C}"/>
              </a:ext>
            </a:extLst>
          </p:cNvPr>
          <p:cNvSpPr>
            <a:spLocks xmlns:a="http://schemas.openxmlformats.org/drawingml/2006/main" noGrp="1"/>
          </p:cNvSpPr>
          <p:nvPr/>
        </p:nvSpPr>
        <p:spPr>
          <a:xfrm xmlns:a="http://schemas.openxmlformats.org/drawingml/2006/main">
            <a:off x="3924300" y="161925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95744"/>
                </a:solidFill>
                <a:latin typeface="Bitstream Charter"/>
                <a:ea typeface="Bitstream Charter"/>
                <a:cs typeface="Bitstream Charter"/>
              </a:defRPr>
            </a:pPr>
            <a:r>
              <a:rPr sz="1875" b="0">
                <a:solidFill>
                  <a:srgbClr val="395744"/>
                </a:solidFill>
                <a:latin typeface="Bitstream Charter"/>
                <a:ea typeface="Bitstream Charter"/>
                <a:cs typeface="Bitstream Charter"/>
              </a:rPr>
              <a:t>Dashboard, module screens, forms and printable invoices</a:t>
            </a:r>
          </a:p>
        </p:txBody>
      </p:sp>
      <p:sp>
        <p:nvSpPr>
          <p:cNvPr id="5" name="">
            <a:extLst xmlns:a="http://schemas.openxmlformats.org/drawingml/2006/main">
              <a:ext uri="{FF2B5EF4-FFF2-40B4-BE49-F238E27FC236}">
                <a16:creationId xmlns:a16="http://schemas.microsoft.com/office/drawing/2014/main" id="{72401631-1A40-4EDF-8A60-18637D294FC3}"/>
              </a:ext>
            </a:extLst>
          </p:cNvPr>
          <p:cNvSpPr>
            <a:spLocks xmlns:a="http://schemas.openxmlformats.org/drawingml/2006/main" noGrp="1"/>
          </p:cNvSpPr>
          <p:nvPr/>
        </p:nvSpPr>
        <p:spPr>
          <a:xfrm xmlns:a="http://schemas.openxmlformats.org/drawingml/2006/main">
            <a:off x="609600" y="25908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37A4A"/>
                </a:solidFill>
                <a:latin typeface="Bitstream Charter"/>
                <a:ea typeface="Bitstream Charter"/>
                <a:cs typeface="Bitstream Charter"/>
              </a:defRPr>
            </a:pPr>
            <a:r>
              <a:rPr sz="1950" b="1">
                <a:solidFill>
                  <a:srgbClr val="237A4A"/>
                </a:solidFill>
                <a:latin typeface="Bitstream Charter"/>
                <a:ea typeface="Bitstream Charter"/>
                <a:cs typeface="Bitstream Charter"/>
              </a:rPr>
              <a:t>Node.js + Express</a:t>
            </a:r>
          </a:p>
        </p:txBody>
      </p:sp>
      <p:sp>
        <p:nvSpPr>
          <p:cNvPr id="6" name="">
            <a:extLst xmlns:a="http://schemas.openxmlformats.org/drawingml/2006/main">
              <a:ext uri="{FF2B5EF4-FFF2-40B4-BE49-F238E27FC236}">
                <a16:creationId xmlns:a16="http://schemas.microsoft.com/office/drawing/2014/main" id="{8AAE0D72-51AB-4262-BD84-B9C32BA97EA1}"/>
              </a:ext>
            </a:extLst>
          </p:cNvPr>
          <p:cNvSpPr>
            <a:spLocks xmlns:a="http://schemas.openxmlformats.org/drawingml/2006/main" noGrp="1"/>
          </p:cNvSpPr>
          <p:nvPr/>
        </p:nvSpPr>
        <p:spPr>
          <a:xfrm xmlns:a="http://schemas.openxmlformats.org/drawingml/2006/main">
            <a:off x="3924300" y="259080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95744"/>
                </a:solidFill>
                <a:latin typeface="Bitstream Charter"/>
                <a:ea typeface="Bitstream Charter"/>
                <a:cs typeface="Bitstream Charter"/>
              </a:defRPr>
            </a:pPr>
            <a:r>
              <a:rPr sz="1875" b="0">
                <a:solidFill>
                  <a:srgbClr val="395744"/>
                </a:solidFill>
                <a:latin typeface="Bitstream Charter"/>
                <a:ea typeface="Bitstream Charter"/>
                <a:cs typeface="Bitstream Charter"/>
              </a:rPr>
              <a:t>Session authentication, role checks and validated business commands</a:t>
            </a:r>
          </a:p>
        </p:txBody>
      </p:sp>
      <p:sp>
        <p:nvSpPr>
          <p:cNvPr id="7" name="">
            <a:extLst xmlns:a="http://schemas.openxmlformats.org/drawingml/2006/main">
              <a:ext uri="{FF2B5EF4-FFF2-40B4-BE49-F238E27FC236}">
                <a16:creationId xmlns:a16="http://schemas.microsoft.com/office/drawing/2014/main" id="{74E1892D-885F-4283-8DB8-8A5A2E394980}"/>
              </a:ext>
            </a:extLst>
          </p:cNvPr>
          <p:cNvSpPr>
            <a:spLocks xmlns:a="http://schemas.openxmlformats.org/drawingml/2006/main" noGrp="1"/>
          </p:cNvSpPr>
          <p:nvPr/>
        </p:nvSpPr>
        <p:spPr>
          <a:xfrm xmlns:a="http://schemas.openxmlformats.org/drawingml/2006/main">
            <a:off x="609600" y="35623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37A4A"/>
                </a:solidFill>
                <a:latin typeface="Bitstream Charter"/>
                <a:ea typeface="Bitstream Charter"/>
                <a:cs typeface="Bitstream Charter"/>
              </a:defRPr>
            </a:pPr>
            <a:r>
              <a:rPr sz="1950" b="1">
                <a:solidFill>
                  <a:srgbClr val="237A4A"/>
                </a:solidFill>
                <a:latin typeface="Bitstream Charter"/>
                <a:ea typeface="Bitstream Charter"/>
                <a:cs typeface="Bitstream Charter"/>
              </a:rPr>
              <a:t>MongoDB</a:t>
            </a:r>
          </a:p>
        </p:txBody>
      </p:sp>
      <p:sp>
        <p:nvSpPr>
          <p:cNvPr id="8" name="">
            <a:extLst xmlns:a="http://schemas.openxmlformats.org/drawingml/2006/main">
              <a:ext uri="{FF2B5EF4-FFF2-40B4-BE49-F238E27FC236}">
                <a16:creationId xmlns:a16="http://schemas.microsoft.com/office/drawing/2014/main" id="{5302AE83-FFE6-4C35-9AD8-A64FCF2635CC}"/>
              </a:ext>
            </a:extLst>
          </p:cNvPr>
          <p:cNvSpPr>
            <a:spLocks xmlns:a="http://schemas.openxmlformats.org/drawingml/2006/main" noGrp="1"/>
          </p:cNvSpPr>
          <p:nvPr/>
        </p:nvSpPr>
        <p:spPr>
          <a:xfrm xmlns:a="http://schemas.openxmlformats.org/drawingml/2006/main">
            <a:off x="3924300" y="356235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95744"/>
                </a:solidFill>
                <a:latin typeface="Bitstream Charter"/>
                <a:ea typeface="Bitstream Charter"/>
                <a:cs typeface="Bitstream Charter"/>
              </a:defRPr>
            </a:pPr>
            <a:r>
              <a:rPr sz="1875" b="0">
                <a:solidFill>
                  <a:srgbClr val="395744"/>
                </a:solidFill>
                <a:latin typeface="Bitstream Charter"/>
                <a:ea typeface="Bitstream Charter"/>
                <a:cs typeface="Bitstream Charter"/>
              </a:rPr>
              <a:t>Shared collections and atomic cross-module transactions</a:t>
            </a:r>
          </a:p>
        </p:txBody>
      </p:sp>
      <p:sp>
        <p:nvSpPr>
          <p:cNvPr id="9" name="">
            <a:extLst xmlns:a="http://schemas.openxmlformats.org/drawingml/2006/main">
              <a:ext uri="{FF2B5EF4-FFF2-40B4-BE49-F238E27FC236}">
                <a16:creationId xmlns:a16="http://schemas.microsoft.com/office/drawing/2014/main" id="{1C65A314-B7AB-4A23-8D26-51B235C08185}"/>
              </a:ext>
            </a:extLst>
          </p:cNvPr>
          <p:cNvSpPr>
            <a:spLocks xmlns:a="http://schemas.openxmlformats.org/drawingml/2006/main" noGrp="1"/>
          </p:cNvSpPr>
          <p:nvPr/>
        </p:nvSpPr>
        <p:spPr>
          <a:xfrm xmlns:a="http://schemas.openxmlformats.org/drawingml/2006/main">
            <a:off x="609600" y="45339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37A4A"/>
                </a:solidFill>
                <a:latin typeface="Bitstream Charter"/>
                <a:ea typeface="Bitstream Charter"/>
                <a:cs typeface="Bitstream Charter"/>
              </a:defRPr>
            </a:pPr>
            <a:r>
              <a:rPr sz="1950" b="1">
                <a:solidFill>
                  <a:srgbClr val="237A4A"/>
                </a:solidFill>
                <a:latin typeface="Bitstream Charter"/>
                <a:ea typeface="Bitstream Charter"/>
                <a:cs typeface="Bitstream Charter"/>
              </a:rPr>
              <a:t>Local demo option</a:t>
            </a:r>
          </a:p>
        </p:txBody>
      </p:sp>
      <p:sp>
        <p:nvSpPr>
          <p:cNvPr id="10" name="">
            <a:extLst xmlns:a="http://schemas.openxmlformats.org/drawingml/2006/main">
              <a:ext uri="{FF2B5EF4-FFF2-40B4-BE49-F238E27FC236}">
                <a16:creationId xmlns:a16="http://schemas.microsoft.com/office/drawing/2014/main" id="{DFBD95BC-A73B-4672-B66F-B836DD0F174B}"/>
              </a:ext>
            </a:extLst>
          </p:cNvPr>
          <p:cNvSpPr>
            <a:spLocks xmlns:a="http://schemas.openxmlformats.org/drawingml/2006/main" noGrp="1"/>
          </p:cNvSpPr>
          <p:nvPr/>
        </p:nvSpPr>
        <p:spPr>
          <a:xfrm xmlns:a="http://schemas.openxmlformats.org/drawingml/2006/main">
            <a:off x="3924300" y="453390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95744"/>
                </a:solidFill>
                <a:latin typeface="Bitstream Charter"/>
                <a:ea typeface="Bitstream Charter"/>
                <a:cs typeface="Bitstream Charter"/>
              </a:defRPr>
            </a:pPr>
            <a:r>
              <a:rPr sz="1875" b="0">
                <a:solidFill>
                  <a:srgbClr val="395744"/>
                </a:solidFill>
                <a:latin typeface="Bitstream Charter"/>
                <a:ea typeface="Bitstream Charter"/>
                <a:cs typeface="Bitstream Charter"/>
              </a:rPr>
              <a:t>Persistent JSON adapter for presenting without database installation</a:t>
            </a:r>
          </a:p>
        </p:txBody>
      </p:sp>
    </p:spTree>
    <p:extLst>
      <p:ext uri="{BB962C8B-B14F-4D97-AF65-F5344CB8AC3E}">
        <p14:creationId xmlns:p14="http://schemas.microsoft.com/office/powerpoint/2010/main" val="645760478"/>
      </p:ext>
    </p:extLst>
  </p:cSld>
</p:sld>
</file>

<file path=ppt/slides/slide4.xml><?xml version="1.0" encoding="utf-8"?>
<p:sld xmlns:p="http://schemas.openxmlformats.org/presentationml/2006/main">
  <p:cSld>
    <p:bg>
      <p:bgPr>
        <a:solidFill xmlns:a="http://schemas.openxmlformats.org/drawingml/2006/main">
          <a:srgbClr val="F9FB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E1EC4F3-6818-46D3-91F8-F33C2A2D5B49}"/>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E2B"/>
                </a:solidFill>
                <a:latin typeface="Bitstream Charter"/>
                <a:ea typeface="Bitstream Charter"/>
                <a:cs typeface="Bitstream Charter"/>
              </a:defRPr>
            </a:pPr>
            <a:r>
              <a:rPr sz="3150" b="1">
                <a:solidFill>
                  <a:srgbClr val="173E2B"/>
                </a:solidFill>
                <a:latin typeface="Bitstream Charter"/>
                <a:ea typeface="Bitstream Charter"/>
                <a:cs typeface="Bitstream Charter"/>
              </a:rPr>
              <a:t>Connected business overview</a:t>
            </a:r>
          </a:p>
        </p:txBody>
      </p:sp>
      <p:sp>
        <p:nvSpPr>
          <p:cNvPr id="2" name="">
            <a:extLst xmlns:a="http://schemas.openxmlformats.org/drawingml/2006/main">
              <a:ext uri="{FF2B5EF4-FFF2-40B4-BE49-F238E27FC236}">
                <a16:creationId xmlns:a16="http://schemas.microsoft.com/office/drawing/2014/main" id="{1A048E59-A76E-4CBA-B008-C3DC28FADFBA}"/>
              </a:ext>
            </a:extLst>
          </p:cNvPr>
          <p:cNvSpPr>
            <a:spLocks xmlns:a="http://schemas.openxmlformats.org/drawingml/2006/main" noGrp="1"/>
          </p:cNvSpPr>
          <p:nvPr/>
        </p:nvSpPr>
        <p:spPr>
          <a:xfrm xmlns:a="http://schemas.openxmlformats.org/drawingml/2006/main">
            <a:off x="11239500" y="63531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8C9D90"/>
                </a:solidFill>
                <a:latin typeface="Bitstream Charter"/>
                <a:ea typeface="Bitstream Charter"/>
                <a:cs typeface="Bitstream Charter"/>
              </a:defRPr>
            </a:pPr>
            <a:r>
              <a:rPr sz="1275" b="0">
                <a:solidFill>
                  <a:srgbClr val="8C9D90"/>
                </a:solidFill>
                <a:latin typeface="Bitstream Charter"/>
                <a:ea typeface="Bitstream Charter"/>
                <a:cs typeface="Bitstream Charter"/>
              </a:rPr>
              <a:t>04</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df8c67be6024bab"/>
          <a:stretch xmlns:a="http://schemas.openxmlformats.org/drawingml/2006/main"/>
        </p:blipFill>
        <p:spPr>
          <a:xfrm xmlns:a="http://schemas.openxmlformats.org/drawingml/2006/main">
            <a:off x="2048741" y="1247775"/>
            <a:ext cx="8094518" cy="46863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5F5364A-6CA2-48A1-B4A2-AD048F09D3C4}"/>
              </a:ext>
            </a:extLst>
          </p:cNvPr>
          <p:cNvSpPr>
            <a:spLocks xmlns:a="http://schemas.openxmlformats.org/drawingml/2006/main" noGrp="1"/>
          </p:cNvSpPr>
          <p:nvPr/>
        </p:nvSpPr>
        <p:spPr>
          <a:xfrm xmlns:a="http://schemas.openxmlformats.org/drawingml/2006/main">
            <a:off x="609600" y="6067425"/>
            <a:ext cx="1038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6D51"/>
                </a:solidFill>
                <a:latin typeface="Bitstream Charter"/>
                <a:ea typeface="Bitstream Charter"/>
                <a:cs typeface="Bitstream Charter"/>
              </a:defRPr>
            </a:pPr>
            <a:r>
              <a:rPr sz="1650" b="0">
                <a:solidFill>
                  <a:srgbClr val="486D51"/>
                </a:solidFill>
                <a:latin typeface="Bitstream Charter"/>
                <a:ea typeface="Bitstream Charter"/>
                <a:cs typeface="Bitstream Charter"/>
              </a:rPr>
              <a:t>KPIs derive from module records. Other sessions refresh every 15 seconds.</a:t>
            </a:r>
          </a:p>
        </p:txBody>
      </p:sp>
    </p:spTree>
    <p:extLst>
      <p:ext uri="{BB962C8B-B14F-4D97-AF65-F5344CB8AC3E}">
        <p14:creationId xmlns:p14="http://schemas.microsoft.com/office/powerpoint/2010/main" val="914659747"/>
      </p:ext>
    </p:extLst>
  </p:cSld>
</p:sld>
</file>

<file path=ppt/slides/slide5.xml><?xml version="1.0" encoding="utf-8"?>
<p:sld xmlns:p="http://schemas.openxmlformats.org/presentationml/2006/main">
  <p:cSld>
    <p:bg>
      <p:bgPr>
        <a:solidFill xmlns:a="http://schemas.openxmlformats.org/drawingml/2006/main">
          <a:srgbClr val="F9FB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563C2A0-AEFB-42D3-89F4-5392B44C7D0A}"/>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E2B"/>
                </a:solidFill>
                <a:latin typeface="Bitstream Charter"/>
                <a:ea typeface="Bitstream Charter"/>
                <a:cs typeface="Bitstream Charter"/>
              </a:defRPr>
            </a:pPr>
            <a:r>
              <a:rPr sz="3150" b="1">
                <a:solidFill>
                  <a:srgbClr val="173E2B"/>
                </a:solidFill>
                <a:latin typeface="Bitstream Charter"/>
                <a:ea typeface="Bitstream Charter"/>
                <a:cs typeface="Bitstream Charter"/>
              </a:rPr>
              <a:t>Sales and inventory</a:t>
            </a:r>
          </a:p>
        </p:txBody>
      </p:sp>
      <p:sp>
        <p:nvSpPr>
          <p:cNvPr id="2" name="">
            <a:extLst xmlns:a="http://schemas.openxmlformats.org/drawingml/2006/main">
              <a:ext uri="{FF2B5EF4-FFF2-40B4-BE49-F238E27FC236}">
                <a16:creationId xmlns:a16="http://schemas.microsoft.com/office/drawing/2014/main" id="{609A20FB-DEF6-4DF2-9159-BD958EDA4003}"/>
              </a:ext>
            </a:extLst>
          </p:cNvPr>
          <p:cNvSpPr>
            <a:spLocks xmlns:a="http://schemas.openxmlformats.org/drawingml/2006/main" noGrp="1"/>
          </p:cNvSpPr>
          <p:nvPr/>
        </p:nvSpPr>
        <p:spPr>
          <a:xfrm xmlns:a="http://schemas.openxmlformats.org/drawingml/2006/main">
            <a:off x="11239500" y="63531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8C9D90"/>
                </a:solidFill>
                <a:latin typeface="Bitstream Charter"/>
                <a:ea typeface="Bitstream Charter"/>
                <a:cs typeface="Bitstream Charter"/>
              </a:defRPr>
            </a:pPr>
            <a:r>
              <a:rPr sz="1275" b="0">
                <a:solidFill>
                  <a:srgbClr val="8C9D90"/>
                </a:solidFill>
                <a:latin typeface="Bitstream Charter"/>
                <a:ea typeface="Bitstream Charter"/>
                <a:cs typeface="Bitstream Charter"/>
              </a:rPr>
              <a:t>05</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977dc50a8c44242"/>
          <a:stretch xmlns:a="http://schemas.openxmlformats.org/drawingml/2006/main"/>
        </p:blipFill>
        <p:spPr>
          <a:xfrm xmlns:a="http://schemas.openxmlformats.org/drawingml/2006/main">
            <a:off x="2048741" y="1247775"/>
            <a:ext cx="8094518" cy="46863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9C89269-645A-4F29-864D-283033BECB60}"/>
              </a:ext>
            </a:extLst>
          </p:cNvPr>
          <p:cNvSpPr>
            <a:spLocks xmlns:a="http://schemas.openxmlformats.org/drawingml/2006/main" noGrp="1"/>
          </p:cNvSpPr>
          <p:nvPr/>
        </p:nvSpPr>
        <p:spPr>
          <a:xfrm xmlns:a="http://schemas.openxmlformats.org/drawingml/2006/main">
            <a:off x="609600" y="6067425"/>
            <a:ext cx="1038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6D51"/>
                </a:solidFill>
                <a:latin typeface="Bitstream Charter"/>
                <a:ea typeface="Bitstream Charter"/>
                <a:cs typeface="Bitstream Charter"/>
              </a:defRPr>
            </a:pPr>
            <a:r>
              <a:rPr sz="1650" b="0">
                <a:solidFill>
                  <a:srgbClr val="486D51"/>
                </a:solidFill>
                <a:latin typeface="Bitstream Charter"/>
                <a:ea typeface="Bitstream Charter"/>
                <a:cs typeface="Bitstream Charter"/>
              </a:rPr>
              <a:t>Draft creation, stock confirmation, payment recording and invoice printing</a:t>
            </a:r>
          </a:p>
        </p:txBody>
      </p:sp>
    </p:spTree>
    <p:extLst>
      <p:ext uri="{BB962C8B-B14F-4D97-AF65-F5344CB8AC3E}">
        <p14:creationId xmlns:p14="http://schemas.microsoft.com/office/powerpoint/2010/main" val="1582012316"/>
      </p:ext>
    </p:extLst>
  </p:cSld>
</p:sld>
</file>

<file path=ppt/slides/slide6.xml><?xml version="1.0" encoding="utf-8"?>
<p:sld xmlns:p="http://schemas.openxmlformats.org/presentationml/2006/main">
  <p:cSld>
    <p:bg>
      <p:bgPr>
        <a:solidFill xmlns:a="http://schemas.openxmlformats.org/drawingml/2006/main">
          <a:srgbClr val="F9FB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EA7E7C5-1788-442B-9E40-8697E2F498B0}"/>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E2B"/>
                </a:solidFill>
                <a:latin typeface="Bitstream Charter"/>
                <a:ea typeface="Bitstream Charter"/>
                <a:cs typeface="Bitstream Charter"/>
              </a:defRPr>
            </a:pPr>
            <a:r>
              <a:rPr sz="3150" b="1">
                <a:solidFill>
                  <a:srgbClr val="173E2B"/>
                </a:solidFill>
                <a:latin typeface="Bitstream Charter"/>
                <a:ea typeface="Bitstream Charter"/>
                <a:cs typeface="Bitstream Charter"/>
              </a:rPr>
              <a:t>Procurement and stock receiving</a:t>
            </a:r>
          </a:p>
        </p:txBody>
      </p:sp>
      <p:sp>
        <p:nvSpPr>
          <p:cNvPr id="2" name="">
            <a:extLst xmlns:a="http://schemas.openxmlformats.org/drawingml/2006/main">
              <a:ext uri="{FF2B5EF4-FFF2-40B4-BE49-F238E27FC236}">
                <a16:creationId xmlns:a16="http://schemas.microsoft.com/office/drawing/2014/main" id="{4F9B1240-985C-455F-A894-13EC0698B565}"/>
              </a:ext>
            </a:extLst>
          </p:cNvPr>
          <p:cNvSpPr>
            <a:spLocks xmlns:a="http://schemas.openxmlformats.org/drawingml/2006/main" noGrp="1"/>
          </p:cNvSpPr>
          <p:nvPr/>
        </p:nvSpPr>
        <p:spPr>
          <a:xfrm xmlns:a="http://schemas.openxmlformats.org/drawingml/2006/main">
            <a:off x="11239500" y="63531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8C9D90"/>
                </a:solidFill>
                <a:latin typeface="Bitstream Charter"/>
                <a:ea typeface="Bitstream Charter"/>
                <a:cs typeface="Bitstream Charter"/>
              </a:defRPr>
            </a:pPr>
            <a:r>
              <a:rPr sz="1275" b="0">
                <a:solidFill>
                  <a:srgbClr val="8C9D90"/>
                </a:solidFill>
                <a:latin typeface="Bitstream Charter"/>
                <a:ea typeface="Bitstream Charter"/>
                <a:cs typeface="Bitstream Charter"/>
              </a:rPr>
              <a:t>06</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9d27bb81dd74888"/>
          <a:stretch xmlns:a="http://schemas.openxmlformats.org/drawingml/2006/main"/>
        </p:blipFill>
        <p:spPr>
          <a:xfrm xmlns:a="http://schemas.openxmlformats.org/drawingml/2006/main">
            <a:off x="2048741" y="1247775"/>
            <a:ext cx="8094518" cy="46863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C59BFE4-22B7-4594-98BF-49EAD01B126C}"/>
              </a:ext>
            </a:extLst>
          </p:cNvPr>
          <p:cNvSpPr>
            <a:spLocks xmlns:a="http://schemas.openxmlformats.org/drawingml/2006/main" noGrp="1"/>
          </p:cNvSpPr>
          <p:nvPr/>
        </p:nvSpPr>
        <p:spPr>
          <a:xfrm xmlns:a="http://schemas.openxmlformats.org/drawingml/2006/main">
            <a:off x="609600" y="6067425"/>
            <a:ext cx="1038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6D51"/>
                </a:solidFill>
                <a:latin typeface="Bitstream Charter"/>
                <a:ea typeface="Bitstream Charter"/>
                <a:cs typeface="Bitstream Charter"/>
              </a:defRPr>
            </a:pPr>
            <a:r>
              <a:rPr sz="1650" b="0">
                <a:solidFill>
                  <a:srgbClr val="486D51"/>
                </a:solidFill>
                <a:latin typeface="Bitstream Charter"/>
                <a:ea typeface="Bitstream Charter"/>
                <a:cs typeface="Bitstream Charter"/>
              </a:rPr>
              <a:t>Receiving approved goods updates stock and creates an unpaid expense.</a:t>
            </a:r>
          </a:p>
        </p:txBody>
      </p:sp>
    </p:spTree>
    <p:extLst>
      <p:ext uri="{BB962C8B-B14F-4D97-AF65-F5344CB8AC3E}">
        <p14:creationId xmlns:p14="http://schemas.microsoft.com/office/powerpoint/2010/main" val="1701741338"/>
      </p:ext>
    </p:extLst>
  </p:cSld>
</p:sld>
</file>

<file path=ppt/slides/slide7.xml><?xml version="1.0" encoding="utf-8"?>
<p:sld xmlns:p="http://schemas.openxmlformats.org/presentationml/2006/main">
  <p:cSld>
    <p:bg>
      <p:bgPr>
        <a:solidFill xmlns:a="http://schemas.openxmlformats.org/drawingml/2006/main">
          <a:srgbClr val="F9FB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D478674-9AB9-419B-8AF8-3C4565664C2C}"/>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E2B"/>
                </a:solidFill>
                <a:latin typeface="Bitstream Charter"/>
                <a:ea typeface="Bitstream Charter"/>
                <a:cs typeface="Bitstream Charter"/>
              </a:defRPr>
            </a:pPr>
            <a:r>
              <a:rPr sz="3150" b="1">
                <a:solidFill>
                  <a:srgbClr val="173E2B"/>
                </a:solidFill>
                <a:latin typeface="Bitstream Charter"/>
                <a:ea typeface="Bitstream Charter"/>
                <a:cs typeface="Bitstream Charter"/>
              </a:rPr>
              <a:t>Employees, attendance and payroll</a:t>
            </a:r>
          </a:p>
        </p:txBody>
      </p:sp>
      <p:sp>
        <p:nvSpPr>
          <p:cNvPr id="2" name="">
            <a:extLst xmlns:a="http://schemas.openxmlformats.org/drawingml/2006/main">
              <a:ext uri="{FF2B5EF4-FFF2-40B4-BE49-F238E27FC236}">
                <a16:creationId xmlns:a16="http://schemas.microsoft.com/office/drawing/2014/main" id="{055A98CC-2463-436C-BC39-465DFEDF2EBD}"/>
              </a:ext>
            </a:extLst>
          </p:cNvPr>
          <p:cNvSpPr>
            <a:spLocks xmlns:a="http://schemas.openxmlformats.org/drawingml/2006/main" noGrp="1"/>
          </p:cNvSpPr>
          <p:nvPr/>
        </p:nvSpPr>
        <p:spPr>
          <a:xfrm xmlns:a="http://schemas.openxmlformats.org/drawingml/2006/main">
            <a:off x="11239500" y="63531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8C9D90"/>
                </a:solidFill>
                <a:latin typeface="Bitstream Charter"/>
                <a:ea typeface="Bitstream Charter"/>
                <a:cs typeface="Bitstream Charter"/>
              </a:defRPr>
            </a:pPr>
            <a:r>
              <a:rPr sz="1275" b="0">
                <a:solidFill>
                  <a:srgbClr val="8C9D90"/>
                </a:solidFill>
                <a:latin typeface="Bitstream Charter"/>
                <a:ea typeface="Bitstream Charter"/>
                <a:cs typeface="Bitstream Charter"/>
              </a:rPr>
              <a:t>07</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ff361f8ae094b1d"/>
          <a:stretch xmlns:a="http://schemas.openxmlformats.org/drawingml/2006/main"/>
        </p:blipFill>
        <p:spPr>
          <a:xfrm xmlns:a="http://schemas.openxmlformats.org/drawingml/2006/main">
            <a:off x="2048741" y="1247775"/>
            <a:ext cx="8094518" cy="46863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A1C4453-2D0A-4C93-A23B-4E038E87841A}"/>
              </a:ext>
            </a:extLst>
          </p:cNvPr>
          <p:cNvSpPr>
            <a:spLocks xmlns:a="http://schemas.openxmlformats.org/drawingml/2006/main" noGrp="1"/>
          </p:cNvSpPr>
          <p:nvPr/>
        </p:nvSpPr>
        <p:spPr>
          <a:xfrm xmlns:a="http://schemas.openxmlformats.org/drawingml/2006/main">
            <a:off x="609600" y="6067425"/>
            <a:ext cx="1038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6D51"/>
                </a:solidFill>
                <a:latin typeface="Bitstream Charter"/>
                <a:ea typeface="Bitstream Charter"/>
                <a:cs typeface="Bitstream Charter"/>
              </a:defRPr>
            </a:pPr>
            <a:r>
              <a:rPr sz="1650" b="0">
                <a:solidFill>
                  <a:srgbClr val="486D51"/>
                </a:solidFill>
                <a:latin typeface="Bitstream Charter"/>
                <a:ea typeface="Bitstream Charter"/>
                <a:cs typeface="Bitstream Charter"/>
              </a:rPr>
              <a:t>One attendance record per day. One payroll record per employee per month.</a:t>
            </a:r>
          </a:p>
        </p:txBody>
      </p:sp>
    </p:spTree>
    <p:extLst>
      <p:ext uri="{BB962C8B-B14F-4D97-AF65-F5344CB8AC3E}">
        <p14:creationId xmlns:p14="http://schemas.microsoft.com/office/powerpoint/2010/main" val="1374560468"/>
      </p:ext>
    </p:extLst>
  </p:cSld>
</p:sld>
</file>

<file path=ppt/slides/slide8.xml><?xml version="1.0" encoding="utf-8"?>
<p:sld xmlns:p="http://schemas.openxmlformats.org/presentationml/2006/main">
  <p:cSld>
    <p:bg>
      <p:bgPr>
        <a:solidFill xmlns:a="http://schemas.openxmlformats.org/drawingml/2006/main">
          <a:srgbClr val="F9FB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E501CD6-3FC5-4D93-87FB-BDE3567CD678}"/>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E2B"/>
                </a:solidFill>
                <a:latin typeface="Bitstream Charter"/>
                <a:ea typeface="Bitstream Charter"/>
                <a:cs typeface="Bitstream Charter"/>
              </a:defRPr>
            </a:pPr>
            <a:r>
              <a:rPr sz="3150" b="1">
                <a:solidFill>
                  <a:srgbClr val="173E2B"/>
                </a:solidFill>
                <a:latin typeface="Bitstream Charter"/>
                <a:ea typeface="Bitstream Charter"/>
                <a:cs typeface="Bitstream Charter"/>
              </a:rPr>
              <a:t>Finance and reporting</a:t>
            </a:r>
          </a:p>
        </p:txBody>
      </p:sp>
      <p:sp>
        <p:nvSpPr>
          <p:cNvPr id="2" name="">
            <a:extLst xmlns:a="http://schemas.openxmlformats.org/drawingml/2006/main">
              <a:ext uri="{FF2B5EF4-FFF2-40B4-BE49-F238E27FC236}">
                <a16:creationId xmlns:a16="http://schemas.microsoft.com/office/drawing/2014/main" id="{40872B3A-9805-4BB4-8D12-8DAE611DB1F2}"/>
              </a:ext>
            </a:extLst>
          </p:cNvPr>
          <p:cNvSpPr>
            <a:spLocks xmlns:a="http://schemas.openxmlformats.org/drawingml/2006/main" noGrp="1"/>
          </p:cNvSpPr>
          <p:nvPr/>
        </p:nvSpPr>
        <p:spPr>
          <a:xfrm xmlns:a="http://schemas.openxmlformats.org/drawingml/2006/main">
            <a:off x="11239500" y="63531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8C9D90"/>
                </a:solidFill>
                <a:latin typeface="Bitstream Charter"/>
                <a:ea typeface="Bitstream Charter"/>
                <a:cs typeface="Bitstream Charter"/>
              </a:defRPr>
            </a:pPr>
            <a:r>
              <a:rPr sz="1275" b="0">
                <a:solidFill>
                  <a:srgbClr val="8C9D90"/>
                </a:solidFill>
                <a:latin typeface="Bitstream Charter"/>
                <a:ea typeface="Bitstream Charter"/>
                <a:cs typeface="Bitstream Charter"/>
              </a:rPr>
              <a:t>08</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69c48e1f60e49ca"/>
          <a:stretch xmlns:a="http://schemas.openxmlformats.org/drawingml/2006/main"/>
        </p:blipFill>
        <p:spPr>
          <a:xfrm xmlns:a="http://schemas.openxmlformats.org/drawingml/2006/main">
            <a:off x="2048741" y="1247775"/>
            <a:ext cx="8094518" cy="46863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F9E06DE-AF70-46BC-84C9-D86EF1A262F0}"/>
              </a:ext>
            </a:extLst>
          </p:cNvPr>
          <p:cNvSpPr>
            <a:spLocks xmlns:a="http://schemas.openxmlformats.org/drawingml/2006/main" noGrp="1"/>
          </p:cNvSpPr>
          <p:nvPr/>
        </p:nvSpPr>
        <p:spPr>
          <a:xfrm xmlns:a="http://schemas.openxmlformats.org/drawingml/2006/main">
            <a:off x="609600" y="6067425"/>
            <a:ext cx="1038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6D51"/>
                </a:solidFill>
                <a:latin typeface="Bitstream Charter"/>
                <a:ea typeface="Bitstream Charter"/>
                <a:cs typeface="Bitstream Charter"/>
              </a:defRPr>
            </a:pPr>
            <a:r>
              <a:rPr sz="1650" b="0">
                <a:solidFill>
                  <a:srgbClr val="486D51"/>
                </a:solidFill>
                <a:latin typeface="Bitstream Charter"/>
                <a:ea typeface="Bitstream Charter"/>
                <a:cs typeface="Bitstream Charter"/>
              </a:rPr>
              <a:t>Collections less paid expenses gives net cash movement, not accounting profit.</a:t>
            </a:r>
          </a:p>
        </p:txBody>
      </p:sp>
    </p:spTree>
    <p:extLst>
      <p:ext uri="{BB962C8B-B14F-4D97-AF65-F5344CB8AC3E}">
        <p14:creationId xmlns:p14="http://schemas.microsoft.com/office/powerpoint/2010/main" val="1876618165"/>
      </p:ext>
    </p:extLst>
  </p:cSld>
</p:sld>
</file>

<file path=ppt/slides/slide9.xml><?xml version="1.0" encoding="utf-8"?>
<p:sld xmlns:p="http://schemas.openxmlformats.org/presentationml/2006/main">
  <p:cSld>
    <p:bg>
      <p:bgPr>
        <a:solidFill xmlns:a="http://schemas.openxmlformats.org/drawingml/2006/main">
          <a:srgbClr val="F9FB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1B2E2A7-FC2C-4B41-87CA-188700908936}"/>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E2B"/>
                </a:solidFill>
                <a:latin typeface="Bitstream Charter"/>
                <a:ea typeface="Bitstream Charter"/>
                <a:cs typeface="Bitstream Charter"/>
              </a:defRPr>
            </a:pPr>
            <a:r>
              <a:rPr sz="3150" b="1">
                <a:solidFill>
                  <a:srgbClr val="173E2B"/>
                </a:solidFill>
                <a:latin typeface="Bitstream Charter"/>
                <a:ea typeface="Bitstream Charter"/>
                <a:cs typeface="Bitstream Charter"/>
              </a:rPr>
              <a:t>Role-based access</a:t>
            </a:r>
          </a:p>
        </p:txBody>
      </p:sp>
      <p:sp>
        <p:nvSpPr>
          <p:cNvPr id="2" name="">
            <a:extLst xmlns:a="http://schemas.openxmlformats.org/drawingml/2006/main">
              <a:ext uri="{FF2B5EF4-FFF2-40B4-BE49-F238E27FC236}">
                <a16:creationId xmlns:a16="http://schemas.microsoft.com/office/drawing/2014/main" id="{ED9A0F3F-5252-460A-B9BA-D354B68995B7}"/>
              </a:ext>
            </a:extLst>
          </p:cNvPr>
          <p:cNvSpPr>
            <a:spLocks xmlns:a="http://schemas.openxmlformats.org/drawingml/2006/main" noGrp="1"/>
          </p:cNvSpPr>
          <p:nvPr/>
        </p:nvSpPr>
        <p:spPr>
          <a:xfrm xmlns:a="http://schemas.openxmlformats.org/drawingml/2006/main">
            <a:off x="11239500" y="63531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8C9D90"/>
                </a:solidFill>
                <a:latin typeface="Bitstream Charter"/>
                <a:ea typeface="Bitstream Charter"/>
                <a:cs typeface="Bitstream Charter"/>
              </a:defRPr>
            </a:pPr>
            <a:r>
              <a:rPr sz="1275" b="0">
                <a:solidFill>
                  <a:srgbClr val="8C9D90"/>
                </a:solidFill>
                <a:latin typeface="Bitstream Charter"/>
                <a:ea typeface="Bitstream Charter"/>
                <a:cs typeface="Bitstream Charter"/>
              </a:rPr>
              <a:t>09</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d0886a2a34a403d"/>
          <a:stretch xmlns:a="http://schemas.openxmlformats.org/drawingml/2006/main"/>
        </p:blipFill>
        <p:spPr>
          <a:xfrm xmlns:a="http://schemas.openxmlformats.org/drawingml/2006/main">
            <a:off x="2048741" y="1247775"/>
            <a:ext cx="8094518" cy="46863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8893386-7115-4D62-90F4-52ADE8F9C84D}"/>
              </a:ext>
            </a:extLst>
          </p:cNvPr>
          <p:cNvSpPr>
            <a:spLocks xmlns:a="http://schemas.openxmlformats.org/drawingml/2006/main" noGrp="1"/>
          </p:cNvSpPr>
          <p:nvPr/>
        </p:nvSpPr>
        <p:spPr>
          <a:xfrm xmlns:a="http://schemas.openxmlformats.org/drawingml/2006/main">
            <a:off x="609600" y="6067425"/>
            <a:ext cx="1038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6D51"/>
                </a:solidFill>
                <a:latin typeface="Bitstream Charter"/>
                <a:ea typeface="Bitstream Charter"/>
                <a:cs typeface="Bitstream Charter"/>
              </a:defRPr>
            </a:pPr>
            <a:r>
              <a:rPr sz="1650" b="0">
                <a:solidFill>
                  <a:srgbClr val="486D51"/>
                </a:solidFill>
                <a:latin typeface="Bitstream Charter"/>
                <a:ea typeface="Bitstream Charter"/>
                <a:cs typeface="Bitstream Charter"/>
              </a:rPr>
              <a:t>The API verifies permissions and returns only the records allowed for each role.</a:t>
            </a:r>
          </a:p>
        </p:txBody>
      </p:sp>
    </p:spTree>
    <p:extLst>
      <p:ext uri="{BB962C8B-B14F-4D97-AF65-F5344CB8AC3E}">
        <p14:creationId xmlns:p14="http://schemas.microsoft.com/office/powerpoint/2010/main" val="433834575"/>
      </p:ext>
    </p:extLst>
  </p:cSld>
</p:sld>
</file>

<file path=ppt/slides/slide10.xml><?xml version="1.0" encoding="utf-8"?>
<p:sld xmlns:p="http://schemas.openxmlformats.org/presentationml/2006/main">
  <p:cSld>
    <p:bg>
      <p:bgPr>
        <a:solidFill xmlns:a="http://schemas.openxmlformats.org/drawingml/2006/main">
          <a:srgbClr val="F9FBF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A41A172-FA06-4ACA-A948-44A1943C7600}"/>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E2B"/>
                </a:solidFill>
                <a:latin typeface="Bitstream Charter"/>
                <a:ea typeface="Bitstream Charter"/>
                <a:cs typeface="Bitstream Charter"/>
              </a:defRPr>
            </a:pPr>
            <a:r>
              <a:rPr sz="3150" b="1">
                <a:solidFill>
                  <a:srgbClr val="173E2B"/>
                </a:solidFill>
                <a:latin typeface="Bitstream Charter"/>
                <a:ea typeface="Bitstream Charter"/>
                <a:cs typeface="Bitstream Charter"/>
              </a:rPr>
              <a:t>Consistency and validation</a:t>
            </a:r>
          </a:p>
        </p:txBody>
      </p:sp>
      <p:sp>
        <p:nvSpPr>
          <p:cNvPr id="2" name="">
            <a:extLst xmlns:a="http://schemas.openxmlformats.org/drawingml/2006/main">
              <a:ext uri="{FF2B5EF4-FFF2-40B4-BE49-F238E27FC236}">
                <a16:creationId xmlns:a16="http://schemas.microsoft.com/office/drawing/2014/main" id="{17095178-19B6-4133-8E3B-EE0F11FFB0AC}"/>
              </a:ext>
            </a:extLst>
          </p:cNvPr>
          <p:cNvSpPr>
            <a:spLocks xmlns:a="http://schemas.openxmlformats.org/drawingml/2006/main" noGrp="1"/>
          </p:cNvSpPr>
          <p:nvPr/>
        </p:nvSpPr>
        <p:spPr>
          <a:xfrm xmlns:a="http://schemas.openxmlformats.org/drawingml/2006/main">
            <a:off x="11239500" y="63531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8C9D90"/>
                </a:solidFill>
                <a:latin typeface="Bitstream Charter"/>
                <a:ea typeface="Bitstream Charter"/>
                <a:cs typeface="Bitstream Charter"/>
              </a:defRPr>
            </a:pPr>
            <a:r>
              <a:rPr sz="1275" b="0">
                <a:solidFill>
                  <a:srgbClr val="8C9D90"/>
                </a:solidFill>
                <a:latin typeface="Bitstream Charter"/>
                <a:ea typeface="Bitstream Charter"/>
                <a:cs typeface="Bitstream Charter"/>
              </a:rPr>
              <a:t>10</a:t>
            </a:r>
          </a:p>
        </p:txBody>
      </p:sp>
      <p:sp>
        <p:nvSpPr>
          <p:cNvPr id="3" name="">
            <a:extLst xmlns:a="http://schemas.openxmlformats.org/drawingml/2006/main">
              <a:ext uri="{FF2B5EF4-FFF2-40B4-BE49-F238E27FC236}">
                <a16:creationId xmlns:a16="http://schemas.microsoft.com/office/drawing/2014/main" id="{32620874-2D6E-43F6-BE2F-B9D572E12CFD}"/>
              </a:ext>
            </a:extLst>
          </p:cNvPr>
          <p:cNvSpPr>
            <a:spLocks xmlns:a="http://schemas.openxmlformats.org/drawingml/2006/main" noGrp="1"/>
          </p:cNvSpPr>
          <p:nvPr/>
        </p:nvSpPr>
        <p:spPr>
          <a:xfrm xmlns:a="http://schemas.openxmlformats.org/drawingml/2006/main">
            <a:off x="609600" y="16192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37A4A"/>
                </a:solidFill>
                <a:latin typeface="Bitstream Charter"/>
                <a:ea typeface="Bitstream Charter"/>
                <a:cs typeface="Bitstream Charter"/>
              </a:defRPr>
            </a:pPr>
            <a:r>
              <a:rPr sz="1950" b="1">
                <a:solidFill>
                  <a:srgbClr val="237A4A"/>
                </a:solidFill>
                <a:latin typeface="Bitstream Charter"/>
                <a:ea typeface="Bitstream Charter"/>
                <a:cs typeface="Bitstream Charter"/>
              </a:rPr>
              <a:t>Atomic updates</a:t>
            </a:r>
          </a:p>
        </p:txBody>
      </p:sp>
      <p:sp>
        <p:nvSpPr>
          <p:cNvPr id="4" name="">
            <a:extLst xmlns:a="http://schemas.openxmlformats.org/drawingml/2006/main">
              <a:ext uri="{FF2B5EF4-FFF2-40B4-BE49-F238E27FC236}">
                <a16:creationId xmlns:a16="http://schemas.microsoft.com/office/drawing/2014/main" id="{315D9299-FB24-4314-99B5-B583B195642A}"/>
              </a:ext>
            </a:extLst>
          </p:cNvPr>
          <p:cNvSpPr>
            <a:spLocks xmlns:a="http://schemas.openxmlformats.org/drawingml/2006/main" noGrp="1"/>
          </p:cNvSpPr>
          <p:nvPr/>
        </p:nvSpPr>
        <p:spPr>
          <a:xfrm xmlns:a="http://schemas.openxmlformats.org/drawingml/2006/main">
            <a:off x="3924300" y="161925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95744"/>
                </a:solidFill>
                <a:latin typeface="Bitstream Charter"/>
                <a:ea typeface="Bitstream Charter"/>
                <a:cs typeface="Bitstream Charter"/>
              </a:defRPr>
            </a:pPr>
            <a:r>
              <a:rPr sz="1875" b="0">
                <a:solidFill>
                  <a:srgbClr val="395744"/>
                </a:solidFill>
                <a:latin typeface="Bitstream Charter"/>
                <a:ea typeface="Bitstream Charter"/>
                <a:cs typeface="Bitstream Charter"/>
              </a:rPr>
              <a:t>Stock movements and linked financial records commit together.</a:t>
            </a:r>
          </a:p>
        </p:txBody>
      </p:sp>
      <p:sp>
        <p:nvSpPr>
          <p:cNvPr id="5" name="">
            <a:extLst xmlns:a="http://schemas.openxmlformats.org/drawingml/2006/main">
              <a:ext uri="{FF2B5EF4-FFF2-40B4-BE49-F238E27FC236}">
                <a16:creationId xmlns:a16="http://schemas.microsoft.com/office/drawing/2014/main" id="{6F35663E-BA80-480D-8ED3-993E775ABCDF}"/>
              </a:ext>
            </a:extLst>
          </p:cNvPr>
          <p:cNvSpPr>
            <a:spLocks xmlns:a="http://schemas.openxmlformats.org/drawingml/2006/main" noGrp="1"/>
          </p:cNvSpPr>
          <p:nvPr/>
        </p:nvSpPr>
        <p:spPr>
          <a:xfrm xmlns:a="http://schemas.openxmlformats.org/drawingml/2006/main">
            <a:off x="609600" y="25908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37A4A"/>
                </a:solidFill>
                <a:latin typeface="Bitstream Charter"/>
                <a:ea typeface="Bitstream Charter"/>
                <a:cs typeface="Bitstream Charter"/>
              </a:defRPr>
            </a:pPr>
            <a:r>
              <a:rPr sz="1950" b="1">
                <a:solidFill>
                  <a:srgbClr val="237A4A"/>
                </a:solidFill>
                <a:latin typeface="Bitstream Charter"/>
                <a:ea typeface="Bitstream Charter"/>
                <a:cs typeface="Bitstream Charter"/>
              </a:rPr>
              <a:t>Duplicate protection</a:t>
            </a:r>
          </a:p>
        </p:txBody>
      </p:sp>
      <p:sp>
        <p:nvSpPr>
          <p:cNvPr id="6" name="">
            <a:extLst xmlns:a="http://schemas.openxmlformats.org/drawingml/2006/main">
              <a:ext uri="{FF2B5EF4-FFF2-40B4-BE49-F238E27FC236}">
                <a16:creationId xmlns:a16="http://schemas.microsoft.com/office/drawing/2014/main" id="{0E5F76DC-8099-4673-A7C1-7291335EAF91}"/>
              </a:ext>
            </a:extLst>
          </p:cNvPr>
          <p:cNvSpPr>
            <a:spLocks xmlns:a="http://schemas.openxmlformats.org/drawingml/2006/main" noGrp="1"/>
          </p:cNvSpPr>
          <p:nvPr/>
        </p:nvSpPr>
        <p:spPr>
          <a:xfrm xmlns:a="http://schemas.openxmlformats.org/drawingml/2006/main">
            <a:off x="3924300" y="259080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95744"/>
                </a:solidFill>
                <a:latin typeface="Bitstream Charter"/>
                <a:ea typeface="Bitstream Charter"/>
                <a:cs typeface="Bitstream Charter"/>
              </a:defRPr>
            </a:pPr>
            <a:r>
              <a:rPr sz="1875" b="0">
                <a:solidFill>
                  <a:srgbClr val="395744"/>
                </a:solidFill>
                <a:latin typeface="Bitstream Charter"/>
                <a:ea typeface="Bitstream Charter"/>
                <a:cs typeface="Bitstream Charter"/>
              </a:rPr>
              <a:t>Repeated receipts, payments and monthly payroll are rejected.</a:t>
            </a:r>
          </a:p>
        </p:txBody>
      </p:sp>
      <p:sp>
        <p:nvSpPr>
          <p:cNvPr id="7" name="">
            <a:extLst xmlns:a="http://schemas.openxmlformats.org/drawingml/2006/main">
              <a:ext uri="{FF2B5EF4-FFF2-40B4-BE49-F238E27FC236}">
                <a16:creationId xmlns:a16="http://schemas.microsoft.com/office/drawing/2014/main" id="{449C29DD-B49B-4E06-B812-C92733E5A6D1}"/>
              </a:ext>
            </a:extLst>
          </p:cNvPr>
          <p:cNvSpPr>
            <a:spLocks xmlns:a="http://schemas.openxmlformats.org/drawingml/2006/main" noGrp="1"/>
          </p:cNvSpPr>
          <p:nvPr/>
        </p:nvSpPr>
        <p:spPr>
          <a:xfrm xmlns:a="http://schemas.openxmlformats.org/drawingml/2006/main">
            <a:off x="609600" y="35623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37A4A"/>
                </a:solidFill>
                <a:latin typeface="Bitstream Charter"/>
                <a:ea typeface="Bitstream Charter"/>
                <a:cs typeface="Bitstream Charter"/>
              </a:defRPr>
            </a:pPr>
            <a:r>
              <a:rPr sz="1950" b="1">
                <a:solidFill>
                  <a:srgbClr val="237A4A"/>
                </a:solidFill>
                <a:latin typeface="Bitstream Charter"/>
                <a:ea typeface="Bitstream Charter"/>
                <a:cs typeface="Bitstream Charter"/>
              </a:rPr>
              <a:t>Tested scenarios</a:t>
            </a:r>
          </a:p>
        </p:txBody>
      </p:sp>
      <p:sp>
        <p:nvSpPr>
          <p:cNvPr id="8" name="">
            <a:extLst xmlns:a="http://schemas.openxmlformats.org/drawingml/2006/main">
              <a:ext uri="{FF2B5EF4-FFF2-40B4-BE49-F238E27FC236}">
                <a16:creationId xmlns:a16="http://schemas.microsoft.com/office/drawing/2014/main" id="{9E71E2D4-1605-47D6-988C-CE0B28873DB9}"/>
              </a:ext>
            </a:extLst>
          </p:cNvPr>
          <p:cNvSpPr>
            <a:spLocks xmlns:a="http://schemas.openxmlformats.org/drawingml/2006/main" noGrp="1"/>
          </p:cNvSpPr>
          <p:nvPr/>
        </p:nvSpPr>
        <p:spPr>
          <a:xfrm xmlns:a="http://schemas.openxmlformats.org/drawingml/2006/main">
            <a:off x="3924300" y="356235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95744"/>
                </a:solidFill>
                <a:latin typeface="Bitstream Charter"/>
                <a:ea typeface="Bitstream Charter"/>
                <a:cs typeface="Bitstream Charter"/>
              </a:defRPr>
            </a:pPr>
            <a:r>
              <a:rPr sz="1875" b="0">
                <a:solidFill>
                  <a:srgbClr val="395744"/>
                </a:solidFill>
                <a:latin typeface="Bitstream Charter"/>
                <a:ea typeface="Bitstream Charter"/>
                <a:cs typeface="Bitstream Charter"/>
              </a:rPr>
              <a:t>Workflow, access, persistence and competing-stock checks passed.</a:t>
            </a:r>
          </a:p>
        </p:txBody>
      </p:sp>
      <p:sp>
        <p:nvSpPr>
          <p:cNvPr id="9" name="">
            <a:extLst xmlns:a="http://schemas.openxmlformats.org/drawingml/2006/main">
              <a:ext uri="{FF2B5EF4-FFF2-40B4-BE49-F238E27FC236}">
                <a16:creationId xmlns:a16="http://schemas.microsoft.com/office/drawing/2014/main" id="{37C9DD97-A496-4ED7-97F4-ED4B05C2B137}"/>
              </a:ext>
            </a:extLst>
          </p:cNvPr>
          <p:cNvSpPr>
            <a:spLocks xmlns:a="http://schemas.openxmlformats.org/drawingml/2006/main" noGrp="1"/>
          </p:cNvSpPr>
          <p:nvPr/>
        </p:nvSpPr>
        <p:spPr>
          <a:xfrm xmlns:a="http://schemas.openxmlformats.org/drawingml/2006/main">
            <a:off x="609600" y="45339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37A4A"/>
                </a:solidFill>
                <a:latin typeface="Bitstream Charter"/>
                <a:ea typeface="Bitstream Charter"/>
                <a:cs typeface="Bitstream Charter"/>
              </a:defRPr>
            </a:pPr>
            <a:r>
              <a:rPr sz="1950" b="1">
                <a:solidFill>
                  <a:srgbClr val="237A4A"/>
                </a:solidFill>
                <a:latin typeface="Bitstream Charter"/>
                <a:ea typeface="Bitstream Charter"/>
                <a:cs typeface="Bitstream Charter"/>
              </a:rPr>
              <a:t>Browser demonstration</a:t>
            </a:r>
          </a:p>
        </p:txBody>
      </p:sp>
      <p:sp>
        <p:nvSpPr>
          <p:cNvPr id="10" name="">
            <a:extLst xmlns:a="http://schemas.openxmlformats.org/drawingml/2006/main">
              <a:ext uri="{FF2B5EF4-FFF2-40B4-BE49-F238E27FC236}">
                <a16:creationId xmlns:a16="http://schemas.microsoft.com/office/drawing/2014/main" id="{33E4F22D-5249-4646-9121-375D56FE645F}"/>
              </a:ext>
            </a:extLst>
          </p:cNvPr>
          <p:cNvSpPr>
            <a:spLocks xmlns:a="http://schemas.openxmlformats.org/drawingml/2006/main" noGrp="1"/>
          </p:cNvSpPr>
          <p:nvPr/>
        </p:nvSpPr>
        <p:spPr>
          <a:xfrm xmlns:a="http://schemas.openxmlformats.org/drawingml/2006/main">
            <a:off x="3924300" y="453390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95744"/>
                </a:solidFill>
                <a:latin typeface="Bitstream Charter"/>
                <a:ea typeface="Bitstream Charter"/>
                <a:cs typeface="Bitstream Charter"/>
              </a:defRPr>
            </a:pPr>
            <a:r>
              <a:rPr sz="1875" b="0">
                <a:solidFill>
                  <a:srgbClr val="395744"/>
                </a:solidFill>
                <a:latin typeface="Bitstream Charter"/>
                <a:ea typeface="Bitstream Charter"/>
                <a:cs typeface="Bitstream Charter"/>
              </a:rPr>
              <a:t>Sales, purchasing, attendance, payroll and role switching completed.</a:t>
            </a:r>
          </a:p>
        </p:txBody>
      </p:sp>
    </p:spTree>
    <p:extLst>
      <p:ext uri="{BB962C8B-B14F-4D97-AF65-F5344CB8AC3E}">
        <p14:creationId xmlns:p14="http://schemas.microsoft.com/office/powerpoint/2010/main" val="1602588754"/>
      </p:ext>
    </p:extLst>
  </p:cSld>
</p:sld>
</file>

<file path=ppt/slides/slide11.xml><?xml version="1.0" encoding="utf-8"?>
<p:sld xmlns:p="http://schemas.openxmlformats.org/presentationml/2006/main">
  <p:cSld>
    <p:bg>
      <p:bgPr>
        <a:solidFill xmlns:a="http://schemas.openxmlformats.org/drawingml/2006/main">
          <a:srgbClr val="F9FBF9"/>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401591A-A837-4AEB-9A60-C9198A16144B}"/>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E2B"/>
                </a:solidFill>
                <a:latin typeface="Bitstream Charter"/>
                <a:ea typeface="Bitstream Charter"/>
                <a:cs typeface="Bitstream Charter"/>
              </a:defRPr>
            </a:pPr>
            <a:r>
              <a:rPr sz="3150" b="1">
                <a:solidFill>
                  <a:srgbClr val="173E2B"/>
                </a:solidFill>
                <a:latin typeface="Bitstream Charter"/>
                <a:ea typeface="Bitstream Charter"/>
                <a:cs typeface="Bitstream Charter"/>
              </a:rPr>
              <a:t>Live demonstration sequence</a:t>
            </a:r>
          </a:p>
        </p:txBody>
      </p:sp>
      <p:sp>
        <p:nvSpPr>
          <p:cNvPr id="2" name="">
            <a:extLst xmlns:a="http://schemas.openxmlformats.org/drawingml/2006/main">
              <a:ext uri="{FF2B5EF4-FFF2-40B4-BE49-F238E27FC236}">
                <a16:creationId xmlns:a16="http://schemas.microsoft.com/office/drawing/2014/main" id="{879E30CA-20D8-4F4D-8322-BC4286CAFDA0}"/>
              </a:ext>
            </a:extLst>
          </p:cNvPr>
          <p:cNvSpPr>
            <a:spLocks xmlns:a="http://schemas.openxmlformats.org/drawingml/2006/main" noGrp="1"/>
          </p:cNvSpPr>
          <p:nvPr/>
        </p:nvSpPr>
        <p:spPr>
          <a:xfrm xmlns:a="http://schemas.openxmlformats.org/drawingml/2006/main">
            <a:off x="11239500" y="63531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8C9D90"/>
                </a:solidFill>
                <a:latin typeface="Bitstream Charter"/>
                <a:ea typeface="Bitstream Charter"/>
                <a:cs typeface="Bitstream Charter"/>
              </a:defRPr>
            </a:pPr>
            <a:r>
              <a:rPr sz="1275" b="0">
                <a:solidFill>
                  <a:srgbClr val="8C9D90"/>
                </a:solidFill>
                <a:latin typeface="Bitstream Charter"/>
                <a:ea typeface="Bitstream Charter"/>
                <a:cs typeface="Bitstream Charter"/>
              </a:rPr>
              <a:t>11</a:t>
            </a:r>
          </a:p>
        </p:txBody>
      </p:sp>
      <p:sp>
        <p:nvSpPr>
          <p:cNvPr id="3" name="">
            <a:extLst xmlns:a="http://schemas.openxmlformats.org/drawingml/2006/main">
              <a:ext uri="{FF2B5EF4-FFF2-40B4-BE49-F238E27FC236}">
                <a16:creationId xmlns:a16="http://schemas.microsoft.com/office/drawing/2014/main" id="{91E59794-BEFA-4134-96D4-545D4B3F1DBE}"/>
              </a:ext>
            </a:extLst>
          </p:cNvPr>
          <p:cNvSpPr>
            <a:spLocks xmlns:a="http://schemas.openxmlformats.org/drawingml/2006/main" noGrp="1"/>
          </p:cNvSpPr>
          <p:nvPr/>
        </p:nvSpPr>
        <p:spPr>
          <a:xfrm xmlns:a="http://schemas.openxmlformats.org/drawingml/2006/main">
            <a:off x="762000" y="161925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34553E"/>
                </a:solidFill>
                <a:latin typeface="Bitstream Charter"/>
                <a:ea typeface="Bitstream Charter"/>
                <a:cs typeface="Bitstream Charter"/>
              </a:defRPr>
            </a:pPr>
            <a:r>
              <a:rPr sz="2400" b="0">
                <a:solidFill>
                  <a:srgbClr val="34553E"/>
                </a:solidFill>
                <a:latin typeface="Bitstream Charter"/>
                <a:ea typeface="Bitstream Charter"/>
                <a:cs typeface="Bitstream Charter"/>
              </a:rPr>
              <a:t>01   Dashboard and low-stock alerts</a:t>
            </a:r>
          </a:p>
          <a:p xmlns:a="http://schemas.openxmlformats.org/drawingml/2006/main">
            <a:pPr>
              <a:defRPr sz="2400" b="0">
                <a:solidFill>
                  <a:srgbClr val="34553E"/>
                </a:solidFill>
                <a:latin typeface="Bitstream Charter"/>
                <a:ea typeface="Bitstream Charter"/>
                <a:cs typeface="Bitstream Charter"/>
              </a:defRPr>
            </a:pPr>
            <a:r>
              <a:rPr sz="2400" b="0">
                <a:solidFill>
                  <a:srgbClr val="34553E"/>
                </a:solidFill>
                <a:latin typeface="Bitstream Charter"/>
                <a:ea typeface="Bitstream Charter"/>
                <a:cs typeface="Bitstream Charter"/>
              </a:rPr>
              <a:t>02   New sale, confirmation and printable invoice</a:t>
            </a:r>
          </a:p>
          <a:p xmlns:a="http://schemas.openxmlformats.org/drawingml/2006/main">
            <a:pPr>
              <a:defRPr sz="2400" b="0">
                <a:solidFill>
                  <a:srgbClr val="34553E"/>
                </a:solidFill>
                <a:latin typeface="Bitstream Charter"/>
                <a:ea typeface="Bitstream Charter"/>
                <a:cs typeface="Bitstream Charter"/>
              </a:defRPr>
            </a:pPr>
            <a:r>
              <a:rPr sz="2400" b="0">
                <a:solidFill>
                  <a:srgbClr val="34553E"/>
                </a:solidFill>
                <a:latin typeface="Bitstream Charter"/>
                <a:ea typeface="Bitstream Charter"/>
                <a:cs typeface="Bitstream Charter"/>
              </a:rPr>
              <a:t>03   Purchase approval and stock receipt</a:t>
            </a:r>
          </a:p>
          <a:p xmlns:a="http://schemas.openxmlformats.org/drawingml/2006/main">
            <a:pPr>
              <a:defRPr sz="2400" b="0">
                <a:solidFill>
                  <a:srgbClr val="34553E"/>
                </a:solidFill>
                <a:latin typeface="Bitstream Charter"/>
                <a:ea typeface="Bitstream Charter"/>
                <a:cs typeface="Bitstream Charter"/>
              </a:defRPr>
            </a:pPr>
            <a:r>
              <a:rPr sz="2400" b="0">
                <a:solidFill>
                  <a:srgbClr val="34553E"/>
                </a:solidFill>
                <a:latin typeface="Bitstream Charter"/>
                <a:ea typeface="Bitstream Charter"/>
                <a:cs typeface="Bitstream Charter"/>
              </a:rPr>
              <a:t>04   Attendance and monthly payroll</a:t>
            </a:r>
          </a:p>
          <a:p xmlns:a="http://schemas.openxmlformats.org/drawingml/2006/main">
            <a:pPr>
              <a:defRPr sz="2400" b="0">
                <a:solidFill>
                  <a:srgbClr val="34553E"/>
                </a:solidFill>
                <a:latin typeface="Bitstream Charter"/>
                <a:ea typeface="Bitstream Charter"/>
                <a:cs typeface="Bitstream Charter"/>
              </a:defRPr>
            </a:pPr>
            <a:r>
              <a:rPr sz="2400" b="0">
                <a:solidFill>
                  <a:srgbClr val="34553E"/>
                </a:solidFill>
                <a:latin typeface="Bitstream Charter"/>
                <a:ea typeface="Bitstream Charter"/>
                <a:cs typeface="Bitstream Charter"/>
              </a:rPr>
              <a:t>05   Finance payables and payment recording</a:t>
            </a:r>
          </a:p>
          <a:p xmlns:a="http://schemas.openxmlformats.org/drawingml/2006/main">
            <a:pPr>
              <a:defRPr sz="2400" b="0">
                <a:solidFill>
                  <a:srgbClr val="34553E"/>
                </a:solidFill>
                <a:latin typeface="Bitstream Charter"/>
                <a:ea typeface="Bitstream Charter"/>
                <a:cs typeface="Bitstream Charter"/>
              </a:defRPr>
            </a:pPr>
            <a:r>
              <a:rPr sz="2400" b="0">
                <a:solidFill>
                  <a:srgbClr val="34553E"/>
                </a:solidFill>
                <a:latin typeface="Bitstream Charter"/>
                <a:ea typeface="Bitstream Charter"/>
                <a:cs typeface="Bitstream Charter"/>
              </a:rPr>
              <a:t>06   Staff login and restricted access</a:t>
            </a:r>
          </a:p>
        </p:txBody>
      </p:sp>
    </p:spTree>
    <p:extLst>
      <p:ext uri="{BB962C8B-B14F-4D97-AF65-F5344CB8AC3E}">
        <p14:creationId xmlns:p14="http://schemas.microsoft.com/office/powerpoint/2010/main" val="281826989"/>
      </p:ext>
    </p:extLst>
  </p:cSld>
</p:sld>
</file>

<file path=ppt/slides/slide12.xml><?xml version="1.0" encoding="utf-8"?>
<p:sld xmlns:p="http://schemas.openxmlformats.org/presentationml/2006/main">
  <p:cSld>
    <p:bg>
      <p:bgPr>
        <a:solidFill xmlns:a="http://schemas.openxmlformats.org/drawingml/2006/main">
          <a:srgbClr val="F9FBF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5ED9730-F087-47A8-B522-A70C25334831}"/>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E2B"/>
                </a:solidFill>
                <a:latin typeface="Bitstream Charter"/>
                <a:ea typeface="Bitstream Charter"/>
                <a:cs typeface="Bitstream Charter"/>
              </a:defRPr>
            </a:pPr>
            <a:r>
              <a:rPr sz="3150" b="1">
                <a:solidFill>
                  <a:srgbClr val="173E2B"/>
                </a:solidFill>
                <a:latin typeface="Bitstream Charter"/>
                <a:ea typeface="Bitstream Charter"/>
                <a:cs typeface="Bitstream Charter"/>
              </a:rPr>
              <a:t>Scope, limitations and next steps</a:t>
            </a:r>
          </a:p>
        </p:txBody>
      </p:sp>
      <p:sp>
        <p:nvSpPr>
          <p:cNvPr id="2" name="">
            <a:extLst xmlns:a="http://schemas.openxmlformats.org/drawingml/2006/main">
              <a:ext uri="{FF2B5EF4-FFF2-40B4-BE49-F238E27FC236}">
                <a16:creationId xmlns:a16="http://schemas.microsoft.com/office/drawing/2014/main" id="{5D8E18BC-89E7-408E-9AFA-C4ACD866B398}"/>
              </a:ext>
            </a:extLst>
          </p:cNvPr>
          <p:cNvSpPr>
            <a:spLocks xmlns:a="http://schemas.openxmlformats.org/drawingml/2006/main" noGrp="1"/>
          </p:cNvSpPr>
          <p:nvPr/>
        </p:nvSpPr>
        <p:spPr>
          <a:xfrm xmlns:a="http://schemas.openxmlformats.org/drawingml/2006/main">
            <a:off x="11239500" y="63531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8C9D90"/>
                </a:solidFill>
                <a:latin typeface="Bitstream Charter"/>
                <a:ea typeface="Bitstream Charter"/>
                <a:cs typeface="Bitstream Charter"/>
              </a:defRPr>
            </a:pPr>
            <a:r>
              <a:rPr sz="1275" b="0">
                <a:solidFill>
                  <a:srgbClr val="8C9D90"/>
                </a:solidFill>
                <a:latin typeface="Bitstream Charter"/>
                <a:ea typeface="Bitstream Charter"/>
                <a:cs typeface="Bitstream Charter"/>
              </a:rPr>
              <a:t>12</a:t>
            </a:r>
          </a:p>
        </p:txBody>
      </p:sp>
      <p:sp>
        <p:nvSpPr>
          <p:cNvPr id="3" name="">
            <a:extLst xmlns:a="http://schemas.openxmlformats.org/drawingml/2006/main">
              <a:ext uri="{FF2B5EF4-FFF2-40B4-BE49-F238E27FC236}">
                <a16:creationId xmlns:a16="http://schemas.microsoft.com/office/drawing/2014/main" id="{6AF059B6-6D32-401D-8148-E2805A7AE0BD}"/>
              </a:ext>
            </a:extLst>
          </p:cNvPr>
          <p:cNvSpPr>
            <a:spLocks xmlns:a="http://schemas.openxmlformats.org/drawingml/2006/main" noGrp="1"/>
          </p:cNvSpPr>
          <p:nvPr/>
        </p:nvSpPr>
        <p:spPr>
          <a:xfrm xmlns:a="http://schemas.openxmlformats.org/drawingml/2006/main">
            <a:off x="609600" y="16192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37A4A"/>
                </a:solidFill>
                <a:latin typeface="Bitstream Charter"/>
                <a:ea typeface="Bitstream Charter"/>
                <a:cs typeface="Bitstream Charter"/>
              </a:defRPr>
            </a:pPr>
            <a:r>
              <a:rPr sz="1950" b="1">
                <a:solidFill>
                  <a:srgbClr val="237A4A"/>
                </a:solidFill>
                <a:latin typeface="Bitstream Charter"/>
                <a:ea typeface="Bitstream Charter"/>
                <a:cs typeface="Bitstream Charter"/>
              </a:rPr>
              <a:t>Implemented</a:t>
            </a:r>
          </a:p>
        </p:txBody>
      </p:sp>
      <p:sp>
        <p:nvSpPr>
          <p:cNvPr id="4" name="">
            <a:extLst xmlns:a="http://schemas.openxmlformats.org/drawingml/2006/main">
              <a:ext uri="{FF2B5EF4-FFF2-40B4-BE49-F238E27FC236}">
                <a16:creationId xmlns:a16="http://schemas.microsoft.com/office/drawing/2014/main" id="{5719D650-27A2-443B-81CE-F51C0405CF84}"/>
              </a:ext>
            </a:extLst>
          </p:cNvPr>
          <p:cNvSpPr>
            <a:spLocks xmlns:a="http://schemas.openxmlformats.org/drawingml/2006/main" noGrp="1"/>
          </p:cNvSpPr>
          <p:nvPr/>
        </p:nvSpPr>
        <p:spPr>
          <a:xfrm xmlns:a="http://schemas.openxmlformats.org/drawingml/2006/main">
            <a:off x="3924300" y="161925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95744"/>
                </a:solidFill>
                <a:latin typeface="Bitstream Charter"/>
                <a:ea typeface="Bitstream Charter"/>
                <a:cs typeface="Bitstream Charter"/>
              </a:defRPr>
            </a:pPr>
            <a:r>
              <a:rPr sz="1875" b="0">
                <a:solidFill>
                  <a:srgbClr val="395744"/>
                </a:solidFill>
                <a:latin typeface="Bitstream Charter"/>
                <a:ea typeface="Bitstream Charter"/>
                <a:cs typeface="Bitstream Charter"/>
              </a:rPr>
              <a:t>Five connected modules, dashboards, role checks and CSV exports</a:t>
            </a:r>
          </a:p>
        </p:txBody>
      </p:sp>
      <p:sp>
        <p:nvSpPr>
          <p:cNvPr id="5" name="">
            <a:extLst xmlns:a="http://schemas.openxmlformats.org/drawingml/2006/main">
              <a:ext uri="{FF2B5EF4-FFF2-40B4-BE49-F238E27FC236}">
                <a16:creationId xmlns:a16="http://schemas.microsoft.com/office/drawing/2014/main" id="{BBF3DBDF-E69B-4764-810E-2D332CBB2825}"/>
              </a:ext>
            </a:extLst>
          </p:cNvPr>
          <p:cNvSpPr>
            <a:spLocks xmlns:a="http://schemas.openxmlformats.org/drawingml/2006/main" noGrp="1"/>
          </p:cNvSpPr>
          <p:nvPr/>
        </p:nvSpPr>
        <p:spPr>
          <a:xfrm xmlns:a="http://schemas.openxmlformats.org/drawingml/2006/main">
            <a:off x="609600" y="25908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37A4A"/>
                </a:solidFill>
                <a:latin typeface="Bitstream Charter"/>
                <a:ea typeface="Bitstream Charter"/>
                <a:cs typeface="Bitstream Charter"/>
              </a:defRPr>
            </a:pPr>
            <a:r>
              <a:rPr sz="1950" b="1">
                <a:solidFill>
                  <a:srgbClr val="237A4A"/>
                </a:solidFill>
                <a:latin typeface="Bitstream Charter"/>
                <a:ea typeface="Bitstream Charter"/>
                <a:cs typeface="Bitstream Charter"/>
              </a:rPr>
              <a:t>Academic simplifications</a:t>
            </a:r>
          </a:p>
        </p:txBody>
      </p:sp>
      <p:sp>
        <p:nvSpPr>
          <p:cNvPr id="6" name="">
            <a:extLst xmlns:a="http://schemas.openxmlformats.org/drawingml/2006/main">
              <a:ext uri="{FF2B5EF4-FFF2-40B4-BE49-F238E27FC236}">
                <a16:creationId xmlns:a16="http://schemas.microsoft.com/office/drawing/2014/main" id="{51B1E7E9-C5B6-4F8F-A660-DBE1DA9DF664}"/>
              </a:ext>
            </a:extLst>
          </p:cNvPr>
          <p:cNvSpPr>
            <a:spLocks xmlns:a="http://schemas.openxmlformats.org/drawingml/2006/main" noGrp="1"/>
          </p:cNvSpPr>
          <p:nvPr/>
        </p:nvSpPr>
        <p:spPr>
          <a:xfrm xmlns:a="http://schemas.openxmlformats.org/drawingml/2006/main">
            <a:off x="3924300" y="259080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95744"/>
                </a:solidFill>
                <a:latin typeface="Bitstream Charter"/>
                <a:ea typeface="Bitstream Charter"/>
                <a:cs typeface="Bitstream Charter"/>
              </a:defRPr>
            </a:pPr>
            <a:r>
              <a:rPr sz="1875" b="0">
                <a:solidFill>
                  <a:srgbClr val="395744"/>
                </a:solidFill>
                <a:latin typeface="Bitstream Charter"/>
                <a:ea typeface="Bitstream Charter"/>
                <a:cs typeface="Bitstream Charter"/>
              </a:rPr>
              <a:t>Base-salary payroll, demo tax and current-cost stock valuation</a:t>
            </a:r>
          </a:p>
        </p:txBody>
      </p:sp>
      <p:sp>
        <p:nvSpPr>
          <p:cNvPr id="7" name="">
            <a:extLst xmlns:a="http://schemas.openxmlformats.org/drawingml/2006/main">
              <a:ext uri="{FF2B5EF4-FFF2-40B4-BE49-F238E27FC236}">
                <a16:creationId xmlns:a16="http://schemas.microsoft.com/office/drawing/2014/main" id="{892D4573-EE81-42AB-97D8-A6C60D14E206}"/>
              </a:ext>
            </a:extLst>
          </p:cNvPr>
          <p:cNvSpPr>
            <a:spLocks xmlns:a="http://schemas.openxmlformats.org/drawingml/2006/main" noGrp="1"/>
          </p:cNvSpPr>
          <p:nvPr/>
        </p:nvSpPr>
        <p:spPr>
          <a:xfrm xmlns:a="http://schemas.openxmlformats.org/drawingml/2006/main">
            <a:off x="609600" y="35623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37A4A"/>
                </a:solidFill>
                <a:latin typeface="Bitstream Charter"/>
                <a:ea typeface="Bitstream Charter"/>
                <a:cs typeface="Bitstream Charter"/>
              </a:defRPr>
            </a:pPr>
            <a:r>
              <a:rPr sz="1950" b="1">
                <a:solidFill>
                  <a:srgbClr val="237A4A"/>
                </a:solidFill>
                <a:latin typeface="Bitstream Charter"/>
                <a:ea typeface="Bitstream Charter"/>
                <a:cs typeface="Bitstream Charter"/>
              </a:rPr>
              <a:t>Future capabilities</a:t>
            </a:r>
          </a:p>
        </p:txBody>
      </p:sp>
      <p:sp>
        <p:nvSpPr>
          <p:cNvPr id="8" name="">
            <a:extLst xmlns:a="http://schemas.openxmlformats.org/drawingml/2006/main">
              <a:ext uri="{FF2B5EF4-FFF2-40B4-BE49-F238E27FC236}">
                <a16:creationId xmlns:a16="http://schemas.microsoft.com/office/drawing/2014/main" id="{674CB008-11AF-4792-9C41-A62F310C477B}"/>
              </a:ext>
            </a:extLst>
          </p:cNvPr>
          <p:cNvSpPr>
            <a:spLocks xmlns:a="http://schemas.openxmlformats.org/drawingml/2006/main" noGrp="1"/>
          </p:cNvSpPr>
          <p:nvPr/>
        </p:nvSpPr>
        <p:spPr>
          <a:xfrm xmlns:a="http://schemas.openxmlformats.org/drawingml/2006/main">
            <a:off x="3924300" y="356235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95744"/>
                </a:solidFill>
                <a:latin typeface="Bitstream Charter"/>
                <a:ea typeface="Bitstream Charter"/>
                <a:cs typeface="Bitstream Charter"/>
              </a:defRPr>
            </a:pPr>
            <a:r>
              <a:rPr sz="1875" b="0">
                <a:solidFill>
                  <a:srgbClr val="395744"/>
                </a:solidFill>
                <a:latin typeface="Bitstream Charter"/>
                <a:ea typeface="Bitstream Charter"/>
                <a:cs typeface="Bitstream Charter"/>
              </a:rPr>
              <a:t>Refunds, partial receipts, statutory accounting and integrations</a:t>
            </a:r>
          </a:p>
        </p:txBody>
      </p:sp>
      <p:sp>
        <p:nvSpPr>
          <p:cNvPr id="9" name="">
            <a:extLst xmlns:a="http://schemas.openxmlformats.org/drawingml/2006/main">
              <a:ext uri="{FF2B5EF4-FFF2-40B4-BE49-F238E27FC236}">
                <a16:creationId xmlns:a16="http://schemas.microsoft.com/office/drawing/2014/main" id="{2EEF7E90-B0DA-453A-AEA1-A0D3C31F3457}"/>
              </a:ext>
            </a:extLst>
          </p:cNvPr>
          <p:cNvSpPr>
            <a:spLocks xmlns:a="http://schemas.openxmlformats.org/drawingml/2006/main" noGrp="1"/>
          </p:cNvSpPr>
          <p:nvPr/>
        </p:nvSpPr>
        <p:spPr>
          <a:xfrm xmlns:a="http://schemas.openxmlformats.org/drawingml/2006/main">
            <a:off x="609600" y="45339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37A4A"/>
                </a:solidFill>
                <a:latin typeface="Bitstream Charter"/>
                <a:ea typeface="Bitstream Charter"/>
                <a:cs typeface="Bitstream Charter"/>
              </a:defRPr>
            </a:pPr>
            <a:r>
              <a:rPr sz="1950" b="1">
                <a:solidFill>
                  <a:srgbClr val="237A4A"/>
                </a:solidFill>
                <a:latin typeface="Bitstream Charter"/>
                <a:ea typeface="Bitstream Charter"/>
                <a:cs typeface="Bitstream Charter"/>
              </a:rPr>
              <a:t>Deployment preparation</a:t>
            </a:r>
          </a:p>
        </p:txBody>
      </p:sp>
      <p:sp>
        <p:nvSpPr>
          <p:cNvPr id="10" name="">
            <a:extLst xmlns:a="http://schemas.openxmlformats.org/drawingml/2006/main">
              <a:ext uri="{FF2B5EF4-FFF2-40B4-BE49-F238E27FC236}">
                <a16:creationId xmlns:a16="http://schemas.microsoft.com/office/drawing/2014/main" id="{46E64B64-4E58-4963-80B5-139BD522D9F6}"/>
              </a:ext>
            </a:extLst>
          </p:cNvPr>
          <p:cNvSpPr>
            <a:spLocks xmlns:a="http://schemas.openxmlformats.org/drawingml/2006/main" noGrp="1"/>
          </p:cNvSpPr>
          <p:nvPr/>
        </p:nvSpPr>
        <p:spPr>
          <a:xfrm xmlns:a="http://schemas.openxmlformats.org/drawingml/2006/main">
            <a:off x="3924300" y="453390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95744"/>
                </a:solidFill>
                <a:latin typeface="Bitstream Charter"/>
                <a:ea typeface="Bitstream Charter"/>
                <a:cs typeface="Bitstream Charter"/>
              </a:defRPr>
            </a:pPr>
            <a:r>
              <a:rPr sz="1875" b="0">
                <a:solidFill>
                  <a:srgbClr val="395744"/>
                </a:solidFill>
                <a:latin typeface="Bitstream Charter"/>
                <a:ea typeface="Bitstream Charter"/>
                <a:cs typeface="Bitstream Charter"/>
              </a:rPr>
              <a:t>Account lifecycle, scalable queries, backups and monitoring</a:t>
            </a:r>
          </a:p>
        </p:txBody>
      </p:sp>
    </p:spTree>
    <p:extLst>
      <p:ext uri="{BB962C8B-B14F-4D97-AF65-F5344CB8AC3E}">
        <p14:creationId xmlns:p14="http://schemas.microsoft.com/office/powerpoint/2010/main" val="11729369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2026-09-29T20:01:23.6320000Z</dcterms:created>
  <dcterms:modified xsi:type="dcterms:W3CDTF">2026-09-29T20:01:23.6320000Z</dcterms:modified>
</coreProperties>
</file>