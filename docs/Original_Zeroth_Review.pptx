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cover slide for the Zeroth Review. Announce the project title, the fact that it is a MERN (MongoDB, Express, React, Node.js) full-stack application, and its purpose: helping small and medium businesses integrate inventory, sales, HR, finance, and procurement into one centralized ERP platform. Fill in your department, name, roll number, and guide's name before presenting. Keep this slide brief—30-45 seconds—just enough to orient the panel before moving into the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abstract as a 60-90 second overview of the whole project, not a repeat of the title slide. Emphasize four things in order: (1) what the system is—a MERN web platform; (2) what problem it solves—disconnected, siloed business software; (3) what it does—integrate inventory, sales, HR, finance, and procurement with role-based access and dashboards; (4) why it matters—a single source of truth and better visibility. This slide should make the panel understand the whole project even if they heard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set context before naming the problem. Start with why integrated business operations matter for SMBs today—the range of functions they must juggle. Then transition into why the current disconnected, spreadsheet-driven approach is inadequate. End on the technology choice: mention MERN briefly here since the Problem Statement slide will go deeper—you're just previewing 'what' and 'how' before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should feel like the 'pain points' the rest of the project answers—each proposed-system bullet later should map back to one of these five problems. Deliver each bullet as a distinct failure mode: no integration, no single source of truth, manual reconciliation, weak access control, no visibility into metrics. If asked a question here, be ready to give one concrete example (e.g., 'a stock update made in the warehouse spreadsheet never reaches the sales team, so an item is sold that is already out of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this slide as 'what people use today and why it falls short'—distinct from the Problem Statement, which named the pain points, and from Proposed System, which will name the fix. If your panel asks 'why not just use spreadsheets or basic accounting software,' this slide is your answer: those tools are single-purpose and don't model cross-department integration, role-based access, or unified analytics out of the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heart of the review—go slightly slower here. Walk through the lifecycle stages in order (Capture, Integrate, Process, Analyze, Manage) as this becomes your mental model for the rest of the presentation. When you reach the 'planned flow' text, this is a good moment to gesture at an architecture diagram if you have one on a whiteboard or in your report—React talks to Express/Node over an API, which reads and writes to MongoDB. Be ready to explain why MERN: one language (JavaScript) across frontend and backend, JSON-native MongoDB documents map naturally to varied ERP records (inventory items, invoices, employee records), and React gives a responsive dashboard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should read as measurable outcomes, not restated features. Where possible in Q&amp;A, tie each objective back to a metric you could evaluate later (e.g., 'reduction in manual reconciliation time', 'percentage of transactions with complete audit data'). Keep delivery crisp—this slide is often skimmed quickly by reviewers who already understood the system from the previous slide, so don't linger.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slides exist to set expectations, so be explicit about boundaries. Read the in-scope items at a steady pace, then slow down on the out-of-scope note—clearly stating what is NOT included (payment gateway / third-party accounting integration) heads off a common reviewer question and shows you've thought about project boundaries deliberately rather than by omission.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this slide as showing that the project design is grounded in established practice, not inventing modules or workflows from scratch. Odoo and ERPNext are widely referenced open-source ERP frameworks—mention that your module structure and workflow stages are inspired by this kind of established system, scaled down for a project context. Flag clearly to your guide that these citations should be checked and finalized (exact sources, editions, formatting style) before the final report—this slide is a placeholder for a properly verified literature review, not the final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tying every earlier slide together in one breath: problem (disconnected SMB operations) -&gt; solution (centralized MERN ERP platform) -&gt; grounding (established ERP practices). This is also the natural point to invite questions, and to mention next steps for after the Zeroth Review—e.g., detailed requirement gathering, database schema design, and UI wireframing before development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822960" y="2103120"/>
            <a:ext cx="10543032" cy="118872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Centralized ERP Platform for Small and Medium Businesses</a:t>
            </a:r>
            <a:endParaRPr lang="en-US" sz="3400" dirty="0"/>
          </a:p>
        </p:txBody>
      </p:sp>
      <p:sp>
        <p:nvSpPr>
          <p:cNvPr id="3" name="Text 1"/>
          <p:cNvSpPr txBox="1"/>
          <p:nvPr/>
        </p:nvSpPr>
        <p:spPr>
          <a:xfrm>
            <a:off x="1280160" y="3246120"/>
            <a:ext cx="9628632" cy="640080"/>
          </a:xfrm>
          <a:prstGeom prst="rect">
            <a:avLst/>
          </a:prstGeom>
          <a:noFill/>
          <a:ln/>
        </p:spPr>
        <p:txBody>
          <a:bodyPr wrap="square" lIns="0" tIns="0" rIns="0" bIns="0" rtlCol="0" anchor="ctr"/>
          <a:lstStyle/>
          <a:p>
            <a:pPr algn="ctr" indent="0" marL="0">
              <a:buNone/>
            </a:pPr>
            <a:r>
              <a:rPr lang="en-US" sz="1400" i="1" dirty="0">
                <a:solidFill>
                  <a:srgbClr val="CADCFC"/>
                </a:solidFill>
                <a:latin typeface="Calibri" pitchFamily="34" charset="0"/>
                <a:ea typeface="Calibri" pitchFamily="34" charset="-122"/>
                <a:cs typeface="Calibri" pitchFamily="34" charset="-120"/>
              </a:rPr>
              <a:t>A Full Stack MERN Application Integrating Inventory, Sales, HR, Finance, and Procurement with Role-Based Access and Analytics Dashboards</a:t>
            </a:r>
            <a:endParaRPr lang="en-US" sz="1400" dirty="0"/>
          </a:p>
        </p:txBody>
      </p:sp>
      <p:sp>
        <p:nvSpPr>
          <p:cNvPr id="4" name="Text 2"/>
          <p:cNvSpPr txBox="1"/>
          <p:nvPr/>
        </p:nvSpPr>
        <p:spPr>
          <a:xfrm>
            <a:off x="822960" y="4343400"/>
            <a:ext cx="10543032"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Zeroth Review Presentation</a:t>
            </a:r>
            <a:endParaRPr lang="en-US" sz="1500" dirty="0"/>
          </a:p>
        </p:txBody>
      </p:sp>
      <p:sp>
        <p:nvSpPr>
          <p:cNvPr id="5" name="Text 3"/>
          <p:cNvSpPr txBox="1"/>
          <p:nvPr/>
        </p:nvSpPr>
        <p:spPr>
          <a:xfrm>
            <a:off x="822960" y="4892040"/>
            <a:ext cx="10543032" cy="292608"/>
          </a:xfrm>
          <a:prstGeom prst="rect">
            <a:avLst/>
          </a:prstGeom>
          <a:noFill/>
          <a:ln/>
        </p:spPr>
        <p:txBody>
          <a:bodyPr wrap="square" lIns="0" tIns="0" rIns="0" bIns="0" rtlCol="0" anchor="ctr"/>
          <a:lstStyle/>
          <a:p>
            <a:pPr algn="ctr" indent="0" marL="0">
              <a:buNone/>
            </a:pPr>
            <a:r>
              <a:rPr lang="en-US" sz="1250" b="1" dirty="0">
                <a:solidFill>
                  <a:srgbClr val="CADCFC"/>
                </a:solidFill>
                <a:latin typeface="Calibri" pitchFamily="34" charset="0"/>
                <a:ea typeface="Calibri" pitchFamily="34" charset="-122"/>
                <a:cs typeface="Calibri" pitchFamily="34" charset="-120"/>
              </a:rPr>
              <a:t>Department / College:  </a:t>
            </a:r>
            <a:pPr algn="ctr" indent="0" marL="0">
              <a:buNone/>
            </a:pPr>
            <a:r>
              <a:rPr lang="en-US" sz="1250" dirty="0">
                <a:solidFill>
                  <a:srgbClr val="FFFFFF"/>
                </a:solidFill>
                <a:latin typeface="Calibri" pitchFamily="34" charset="0"/>
                <a:ea typeface="Calibri" pitchFamily="34" charset="-122"/>
                <a:cs typeface="Calibri" pitchFamily="34" charset="-120"/>
              </a:rPr>
              <a:t>CSE D</a:t>
            </a:r>
            <a:endParaRPr lang="en-US" sz="1250" dirty="0"/>
          </a:p>
        </p:txBody>
      </p:sp>
      <p:sp>
        <p:nvSpPr>
          <p:cNvPr id="6" name="Text 4"/>
          <p:cNvSpPr txBox="1"/>
          <p:nvPr/>
        </p:nvSpPr>
        <p:spPr>
          <a:xfrm>
            <a:off x="822960" y="5184648"/>
            <a:ext cx="10543032" cy="292608"/>
          </a:xfrm>
          <a:prstGeom prst="rect">
            <a:avLst/>
          </a:prstGeom>
          <a:noFill/>
          <a:ln/>
        </p:spPr>
        <p:txBody>
          <a:bodyPr wrap="square" lIns="0" tIns="0" rIns="0" bIns="0" rtlCol="0" anchor="ctr"/>
          <a:lstStyle/>
          <a:p>
            <a:pPr algn="ctr" indent="0" marL="0">
              <a:buNone/>
            </a:pPr>
            <a:r>
              <a:rPr lang="en-US" sz="1250" b="1" dirty="0">
                <a:solidFill>
                  <a:srgbClr val="CADCFC"/>
                </a:solidFill>
                <a:latin typeface="Calibri" pitchFamily="34" charset="0"/>
                <a:ea typeface="Calibri" pitchFamily="34" charset="-122"/>
                <a:cs typeface="Calibri" pitchFamily="34" charset="-120"/>
              </a:rPr>
              <a:t>Student Name:  </a:t>
            </a:r>
            <a:pPr algn="ctr" indent="0" marL="0">
              <a:buNone/>
            </a:pPr>
            <a:r>
              <a:rPr lang="en-US" sz="1250" dirty="0">
                <a:solidFill>
                  <a:srgbClr val="FFFFFF"/>
                </a:solidFill>
                <a:latin typeface="Calibri" pitchFamily="34" charset="0"/>
                <a:ea typeface="Calibri" pitchFamily="34" charset="-122"/>
                <a:cs typeface="Calibri" pitchFamily="34" charset="-120"/>
              </a:rPr>
              <a:t>Pradeesh A</a:t>
            </a:r>
            <a:endParaRPr lang="en-US" sz="1250" dirty="0"/>
          </a:p>
        </p:txBody>
      </p:sp>
      <p:sp>
        <p:nvSpPr>
          <p:cNvPr id="7" name="Text 5"/>
          <p:cNvSpPr txBox="1"/>
          <p:nvPr/>
        </p:nvSpPr>
        <p:spPr>
          <a:xfrm>
            <a:off x="822960" y="5477256"/>
            <a:ext cx="10543032" cy="292608"/>
          </a:xfrm>
          <a:prstGeom prst="rect">
            <a:avLst/>
          </a:prstGeom>
          <a:noFill/>
          <a:ln/>
        </p:spPr>
        <p:txBody>
          <a:bodyPr wrap="square" lIns="0" tIns="0" rIns="0" bIns="0" rtlCol="0" anchor="ctr"/>
          <a:lstStyle/>
          <a:p>
            <a:pPr algn="ctr" indent="0" marL="0">
              <a:buNone/>
            </a:pPr>
            <a:r>
              <a:rPr lang="en-US" sz="1250" b="1" dirty="0">
                <a:solidFill>
                  <a:srgbClr val="CADCFC"/>
                </a:solidFill>
                <a:latin typeface="Calibri" pitchFamily="34" charset="0"/>
                <a:ea typeface="Calibri" pitchFamily="34" charset="-122"/>
                <a:cs typeface="Calibri" pitchFamily="34" charset="-120"/>
              </a:rPr>
              <a:t>Roll Number:  </a:t>
            </a:r>
            <a:pPr algn="ctr" indent="0" marL="0">
              <a:buNone/>
            </a:pPr>
            <a:r>
              <a:rPr lang="en-US" sz="1250" dirty="0">
                <a:solidFill>
                  <a:srgbClr val="FFFFFF"/>
                </a:solidFill>
                <a:latin typeface="Calibri" pitchFamily="34" charset="0"/>
                <a:ea typeface="Calibri" pitchFamily="34" charset="-122"/>
                <a:cs typeface="Calibri" pitchFamily="34" charset="-120"/>
              </a:rPr>
              <a:t>310624104225</a:t>
            </a:r>
            <a:endParaRPr lang="en-US" sz="1250" dirty="0"/>
          </a:p>
        </p:txBody>
      </p:sp>
      <p:sp>
        <p:nvSpPr>
          <p:cNvPr id="8" name="Text 6"/>
          <p:cNvSpPr txBox="1"/>
          <p:nvPr/>
        </p:nvSpPr>
        <p:spPr>
          <a:xfrm>
            <a:off x="822960" y="5769864"/>
            <a:ext cx="10543032" cy="292608"/>
          </a:xfrm>
          <a:prstGeom prst="rect">
            <a:avLst/>
          </a:prstGeom>
          <a:noFill/>
          <a:ln/>
        </p:spPr>
        <p:txBody>
          <a:bodyPr wrap="square" lIns="0" tIns="0" rIns="0" bIns="0" rtlCol="0" anchor="ctr"/>
          <a:lstStyle/>
          <a:p>
            <a:pPr algn="ctr" indent="0" marL="0">
              <a:buNone/>
            </a:pPr>
            <a:r>
              <a:rPr lang="en-US" sz="1250" b="1" dirty="0">
                <a:solidFill>
                  <a:srgbClr val="CADCFC"/>
                </a:solidFill>
                <a:latin typeface="Calibri" pitchFamily="34" charset="0"/>
                <a:ea typeface="Calibri" pitchFamily="34" charset="-122"/>
                <a:cs typeface="Calibri" pitchFamily="34" charset="-120"/>
              </a:rPr>
              <a:t>Guide / Trainer:  </a:t>
            </a:r>
            <a:pPr algn="ctr" indent="0" marL="0">
              <a:buNone/>
            </a:pPr>
            <a:r>
              <a:rPr lang="en-US" sz="1250" dirty="0">
                <a:solidFill>
                  <a:srgbClr val="FFFFFF"/>
                </a:solidFill>
                <a:latin typeface="Calibri" pitchFamily="34" charset="0"/>
                <a:ea typeface="Calibri" pitchFamily="34" charset="-122"/>
                <a:cs typeface="Calibri" pitchFamily="34" charset="-120"/>
              </a:rPr>
              <a:t>Ms. Nagamani</a:t>
            </a:r>
            <a:endParaRPr lang="en-US" sz="1250" dirty="0"/>
          </a:p>
        </p:txBody>
      </p:sp>
      <p:sp>
        <p:nvSpPr>
          <p:cNvPr id="9" name="Text 7"/>
          <p:cNvSpPr/>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11091672"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Abstract</a:t>
            </a:r>
            <a:endParaRPr lang="en-US" sz="3000" dirty="0"/>
          </a:p>
        </p:txBody>
      </p:sp>
      <p:sp>
        <p:nvSpPr>
          <p:cNvPr id="3" name="Text 1"/>
          <p:cNvSpPr txBox="1"/>
          <p:nvPr/>
        </p:nvSpPr>
        <p:spPr>
          <a:xfrm>
            <a:off x="548640" y="1234440"/>
            <a:ext cx="11091672" cy="1554480"/>
          </a:xfrm>
          <a:prstGeom prst="rect">
            <a:avLst/>
          </a:prstGeom>
          <a:noFill/>
          <a:ln/>
        </p:spPr>
        <p:txBody>
          <a:bodyPr wrap="square" lIns="0" tIns="0" rIns="0" bIns="0" rtlCol="0" anchor="ctr"/>
          <a:lstStyle/>
          <a:p>
            <a:pPr indent="0" marL="0">
              <a:lnSpc>
                <a:spcPct val="125000"/>
              </a:lnSpc>
              <a:buNone/>
            </a:pPr>
            <a:r>
              <a:rPr lang="en-US" sz="1500" dirty="0">
                <a:solidFill>
                  <a:srgbClr val="24262B"/>
                </a:solidFill>
                <a:latin typeface="Calibri" pitchFamily="34" charset="0"/>
                <a:ea typeface="Calibri" pitchFamily="34" charset="-122"/>
                <a:cs typeface="Calibri" pitchFamily="34" charset="-120"/>
              </a:rPr>
              <a:t>Small and medium businesses often use disconnected software for inventory, sales, HR, finance, and procurement, resulting in duplicated data entry, inconsistent records, and delayed reporting across departments. This project proposes a centralized Enterprise Resource Planning (ERP) platform that integrates these core business operations into one structured, web-based system.</a:t>
            </a:r>
            <a:endParaRPr lang="en-US" sz="1500" dirty="0"/>
          </a:p>
        </p:txBody>
      </p:sp>
      <p:sp>
        <p:nvSpPr>
          <p:cNvPr id="4" name="Text 2"/>
          <p:cNvSpPr txBox="1"/>
          <p:nvPr/>
        </p:nvSpPr>
        <p:spPr>
          <a:xfrm>
            <a:off x="548640" y="2880360"/>
            <a:ext cx="11091672" cy="1554480"/>
          </a:xfrm>
          <a:prstGeom prst="rect">
            <a:avLst/>
          </a:prstGeom>
          <a:noFill/>
          <a:ln/>
        </p:spPr>
        <p:txBody>
          <a:bodyPr wrap="square" lIns="0" tIns="0" rIns="0" bIns="0" rtlCol="0" anchor="ctr"/>
          <a:lstStyle/>
          <a:p>
            <a:pPr indent="0" marL="0">
              <a:lnSpc>
                <a:spcPct val="125000"/>
              </a:lnSpc>
              <a:buNone/>
            </a:pPr>
            <a:r>
              <a:rPr lang="en-US" sz="1500" dirty="0">
                <a:solidFill>
                  <a:srgbClr val="24262B"/>
                </a:solidFill>
                <a:latin typeface="Calibri" pitchFamily="34" charset="0"/>
                <a:ea typeface="Calibri" pitchFamily="34" charset="-122"/>
                <a:cs typeface="Calibri" pitchFamily="34" charset="-120"/>
              </a:rPr>
              <a:t>The platform provides role-based access and analytics dashboards so that owners, managers, and staff can view accurate, real-time information relevant to their function. Expected benefits include a single source of truth across departments, faster and more consistent reporting, reduced manual reconciliation effort, and clearer visibility into overall business performance.</a:t>
            </a:r>
            <a:endParaRPr lang="en-US" sz="1500" dirty="0"/>
          </a:p>
        </p:txBody>
      </p:sp>
      <p:sp>
        <p:nvSpPr>
          <p:cNvPr id="5" name="Text 3"/>
          <p:cNvSpPr/>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11091672"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Introduction</a:t>
            </a:r>
            <a:endParaRPr lang="en-US" sz="3000" dirty="0"/>
          </a:p>
        </p:txBody>
      </p:sp>
      <p:sp>
        <p:nvSpPr>
          <p:cNvPr id="3" name="Text 1"/>
          <p:cNvSpPr txBox="1"/>
          <p:nvPr/>
        </p:nvSpPr>
        <p:spPr>
          <a:xfrm>
            <a:off x="548640" y="1234440"/>
            <a:ext cx="11091672" cy="4480560"/>
          </a:xfrm>
          <a:prstGeom prst="rect">
            <a:avLst/>
          </a:prstGeom>
          <a:noFill/>
          <a:ln/>
        </p:spPr>
        <p:txBody>
          <a:bodyPr wrap="square" lIns="0" tIns="0" rIns="0" bIns="0" rtlCol="0" anchor="ctr"/>
          <a:lstStyle/>
          <a:p>
            <a:pPr indent="0" marL="0">
              <a:lnSpc>
                <a:spcPct val="130000"/>
              </a:lnSpc>
              <a:buNone/>
            </a:pPr>
            <a:r>
              <a:rPr lang="en-US" sz="1550" dirty="0">
                <a:solidFill>
                  <a:srgbClr val="24262B"/>
                </a:solidFill>
                <a:latin typeface="Calibri" pitchFamily="34" charset="0"/>
                <a:ea typeface="Calibri" pitchFamily="34" charset="-122"/>
                <a:cs typeface="Calibri" pitchFamily="34" charset="-120"/>
              </a:rPr>
              <a:t>Small and medium businesses (SMBs) increasingly manage a growing volume of daily operations—tracking stock, processing sales, handling payroll, monitoring expenses, and placing purchase orders. Many SMBs still rely on a patchwork of spreadsheets, standalone accounting tools, and manual registers for these tasks, which slows down reporting and increases the risk of inconsistent or lost data. This project proposes a digital, centralized ERP platform that standardizes these operations under one integrated system with role-based access and analytics. The platform is built on the MERN stack—MongoDB, Express.js, React.js, and Node.js—enabling a scalable, full-stack, single-language (JavaScript) web solution.</a:t>
            </a:r>
            <a:endParaRPr lang="en-US" sz="1550" dirty="0"/>
          </a:p>
        </p:txBody>
      </p:sp>
      <p:sp>
        <p:nvSpPr>
          <p:cNvPr id="4" name="Text 2"/>
          <p:cNvSpPr/>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11091672"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Problem Statement</a:t>
            </a:r>
            <a:endParaRPr lang="en-US" sz="3000" dirty="0"/>
          </a:p>
        </p:txBody>
      </p:sp>
      <p:sp>
        <p:nvSpPr>
          <p:cNvPr id="3" name="Text 1"/>
          <p:cNvSpPr txBox="1"/>
          <p:nvPr/>
        </p:nvSpPr>
        <p:spPr>
          <a:xfrm>
            <a:off x="548640" y="1325880"/>
            <a:ext cx="11091672" cy="4754880"/>
          </a:xfrm>
          <a:prstGeom prst="rect">
            <a:avLst/>
          </a:prstGeom>
          <a:noFill/>
          <a:ln/>
        </p:spPr>
        <p:txBody>
          <a:bodyPr wrap="square" lIns="0" tIns="0" rIns="0" bIns="0" rtlCol="0" anchor="ctr"/>
          <a:lstStyle/>
          <a:p>
            <a:pPr marL="228600" indent="-228600">
              <a:lnSpc>
                <a:spcPct val="135000"/>
              </a:lnSpc>
              <a:spcAft>
                <a:spcPts val="1400"/>
              </a:spcAft>
              <a:buSzPct val="100000"/>
              <a:buChar char="●"/>
            </a:pPr>
            <a:r>
              <a:rPr lang="en-US" sz="1650" dirty="0">
                <a:solidFill>
                  <a:srgbClr val="24262B"/>
                </a:solidFill>
                <a:latin typeface="Calibri" pitchFamily="34" charset="0"/>
                <a:ea typeface="Calibri" pitchFamily="34" charset="-122"/>
                <a:cs typeface="Calibri" pitchFamily="34" charset="-120"/>
              </a:rPr>
              <a:t>Inventory, sales, HR, finance, and procurement run on separate, disconnected tools, causing duplicate data entry and inconsistent records.</a:t>
            </a:r>
            <a:endParaRPr lang="en-US" sz="1650" dirty="0"/>
          </a:p>
          <a:p>
            <a:pPr indent="0" marL="0">
              <a:lnSpc>
                <a:spcPct val="135000"/>
              </a:lnSpc>
              <a:spcAft>
                <a:spcPts val="1400"/>
              </a:spcAft>
              <a:buNone/>
            </a:pPr>
            <a:endParaRPr lang="en-US" sz="1650" dirty="0"/>
          </a:p>
          <a:p>
            <a:pPr marL="228600" indent="-228600">
              <a:lnSpc>
                <a:spcPct val="135000"/>
              </a:lnSpc>
              <a:spcAft>
                <a:spcPts val="1400"/>
              </a:spcAft>
              <a:buSzPct val="100000"/>
              <a:buChar char="●"/>
            </a:pPr>
            <a:r>
              <a:rPr lang="en-US" sz="1650" dirty="0">
                <a:solidFill>
                  <a:srgbClr val="24262B"/>
                </a:solidFill>
                <a:latin typeface="Calibri" pitchFamily="34" charset="0"/>
                <a:ea typeface="Calibri" pitchFamily="34" charset="-122"/>
                <a:cs typeface="Calibri" pitchFamily="34" charset="-120"/>
              </a:rPr>
              <a:t>There is no single source of truth, making real-time reporting and cross-department analytics difficult.</a:t>
            </a:r>
            <a:endParaRPr lang="en-US" sz="1650" dirty="0"/>
          </a:p>
          <a:p>
            <a:pPr indent="0" marL="0">
              <a:lnSpc>
                <a:spcPct val="135000"/>
              </a:lnSpc>
              <a:spcAft>
                <a:spcPts val="1400"/>
              </a:spcAft>
              <a:buNone/>
            </a:pPr>
            <a:endParaRPr lang="en-US" sz="1650" dirty="0"/>
          </a:p>
          <a:p>
            <a:pPr marL="228600" indent="-228600">
              <a:lnSpc>
                <a:spcPct val="135000"/>
              </a:lnSpc>
              <a:spcAft>
                <a:spcPts val="1400"/>
              </a:spcAft>
              <a:buSzPct val="100000"/>
              <a:buChar char="●"/>
            </a:pPr>
            <a:r>
              <a:rPr lang="en-US" sz="1650" dirty="0">
                <a:solidFill>
                  <a:srgbClr val="24262B"/>
                </a:solidFill>
                <a:latin typeface="Calibri" pitchFamily="34" charset="0"/>
                <a:ea typeface="Calibri" pitchFamily="34" charset="-122"/>
                <a:cs typeface="Calibri" pitchFamily="34" charset="-120"/>
              </a:rPr>
              <a:t>Manual data transfer between systems is error-prone and delays decision-making.</a:t>
            </a:r>
            <a:endParaRPr lang="en-US" sz="1650" dirty="0"/>
          </a:p>
          <a:p>
            <a:pPr indent="0" marL="0">
              <a:lnSpc>
                <a:spcPct val="135000"/>
              </a:lnSpc>
              <a:spcAft>
                <a:spcPts val="1400"/>
              </a:spcAft>
              <a:buNone/>
            </a:pPr>
            <a:endParaRPr lang="en-US" sz="1650" dirty="0"/>
          </a:p>
          <a:p>
            <a:pPr marL="228600" indent="-228600">
              <a:lnSpc>
                <a:spcPct val="135000"/>
              </a:lnSpc>
              <a:spcAft>
                <a:spcPts val="1400"/>
              </a:spcAft>
              <a:buSzPct val="100000"/>
              <a:buChar char="●"/>
            </a:pPr>
            <a:r>
              <a:rPr lang="en-US" sz="1650" dirty="0">
                <a:solidFill>
                  <a:srgbClr val="24262B"/>
                </a:solidFill>
                <a:latin typeface="Calibri" pitchFamily="34" charset="0"/>
                <a:ea typeface="Calibri" pitchFamily="34" charset="-122"/>
                <a:cs typeface="Calibri" pitchFamily="34" charset="-120"/>
              </a:rPr>
              <a:t>Role-based access control is inconsistent or absent, risking unauthorized access to sensitive business data.</a:t>
            </a:r>
            <a:endParaRPr lang="en-US" sz="1650" dirty="0"/>
          </a:p>
          <a:p>
            <a:pPr indent="0" marL="0">
              <a:lnSpc>
                <a:spcPct val="135000"/>
              </a:lnSpc>
              <a:spcAft>
                <a:spcPts val="1400"/>
              </a:spcAft>
              <a:buNone/>
            </a:pPr>
            <a:endParaRPr lang="en-US" sz="1650" dirty="0"/>
          </a:p>
          <a:p>
            <a:pPr marL="228600" indent="-228600">
              <a:lnSpc>
                <a:spcPct val="135000"/>
              </a:lnSpc>
              <a:spcAft>
                <a:spcPts val="1400"/>
              </a:spcAft>
              <a:buSzPct val="100000"/>
              <a:buChar char="●"/>
            </a:pPr>
            <a:r>
              <a:rPr lang="en-US" sz="1650" dirty="0">
                <a:solidFill>
                  <a:srgbClr val="24262B"/>
                </a:solidFill>
                <a:latin typeface="Calibri" pitchFamily="34" charset="0"/>
                <a:ea typeface="Calibri" pitchFamily="34" charset="-122"/>
                <a:cs typeface="Calibri" pitchFamily="34" charset="-120"/>
              </a:rPr>
              <a:t>Without centralized dashboards, owners and managers lack timely visibility into overall business performance.</a:t>
            </a:r>
            <a:endParaRPr lang="en-US" sz="1650" dirty="0"/>
          </a:p>
        </p:txBody>
      </p:sp>
      <p:sp>
        <p:nvSpPr>
          <p:cNvPr id="4" name="Text 2"/>
          <p:cNvSpPr/>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11091672"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Existing System</a:t>
            </a:r>
            <a:endParaRPr lang="en-US" sz="3000" dirty="0"/>
          </a:p>
        </p:txBody>
      </p:sp>
      <p:sp>
        <p:nvSpPr>
          <p:cNvPr id="3" name="Shape 1"/>
          <p:cNvSpPr/>
          <p:nvPr/>
        </p:nvSpPr>
        <p:spPr>
          <a:xfrm>
            <a:off x="548640" y="1371600"/>
            <a:ext cx="329184" cy="329184"/>
          </a:xfrm>
          <a:prstGeom prst="ellipse">
            <a:avLst/>
          </a:prstGeom>
          <a:solidFill>
            <a:srgbClr val="1E2761"/>
          </a:solidFill>
          <a:ln/>
        </p:spPr>
      </p:sp>
      <p:sp>
        <p:nvSpPr>
          <p:cNvPr id="4" name="Text 2"/>
          <p:cNvSpPr txBox="1"/>
          <p:nvPr/>
        </p:nvSpPr>
        <p:spPr>
          <a:xfrm>
            <a:off x="548640" y="137160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005840" y="1325880"/>
            <a:ext cx="4905756" cy="3200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Manual spreadsheets</a:t>
            </a:r>
            <a:endParaRPr lang="en-US" sz="1450" dirty="0"/>
          </a:p>
        </p:txBody>
      </p:sp>
      <p:sp>
        <p:nvSpPr>
          <p:cNvPr id="6" name="Text 4"/>
          <p:cNvSpPr txBox="1"/>
          <p:nvPr/>
        </p:nvSpPr>
        <p:spPr>
          <a:xfrm>
            <a:off x="1005840" y="1664208"/>
            <a:ext cx="4905756" cy="960120"/>
          </a:xfrm>
          <a:prstGeom prst="rect">
            <a:avLst/>
          </a:prstGeom>
          <a:noFill/>
          <a:ln/>
        </p:spPr>
        <p:txBody>
          <a:bodyPr wrap="square" lIns="0" tIns="0" rIns="0" bIns="0" rtlCol="0" anchor="ctr"/>
          <a:lstStyle/>
          <a:p>
            <a:pPr indent="0" marL="0">
              <a:lnSpc>
                <a:spcPct val="120000"/>
              </a:lnSpc>
              <a:buNone/>
            </a:pPr>
            <a:r>
              <a:rPr lang="en-US" sz="1250" dirty="0">
                <a:solidFill>
                  <a:srgbClr val="24262B"/>
                </a:solidFill>
                <a:latin typeface="Calibri" pitchFamily="34" charset="0"/>
                <a:ea typeface="Calibri" pitchFamily="34" charset="-122"/>
                <a:cs typeface="Calibri" pitchFamily="34" charset="-120"/>
              </a:rPr>
              <a:t>Inventory and sales data are tracked in spreadsheets shared over email, prone to version conflicts and lost updates.</a:t>
            </a:r>
            <a:endParaRPr lang="en-US" sz="1250" dirty="0"/>
          </a:p>
        </p:txBody>
      </p:sp>
      <p:sp>
        <p:nvSpPr>
          <p:cNvPr id="7" name="Shape 5"/>
          <p:cNvSpPr/>
          <p:nvPr/>
        </p:nvSpPr>
        <p:spPr>
          <a:xfrm>
            <a:off x="6277356" y="1371600"/>
            <a:ext cx="329184" cy="329184"/>
          </a:xfrm>
          <a:prstGeom prst="ellipse">
            <a:avLst/>
          </a:prstGeom>
          <a:solidFill>
            <a:srgbClr val="1E2761"/>
          </a:solidFill>
          <a:ln/>
        </p:spPr>
      </p:sp>
      <p:sp>
        <p:nvSpPr>
          <p:cNvPr id="8" name="Text 6"/>
          <p:cNvSpPr txBox="1"/>
          <p:nvPr/>
        </p:nvSpPr>
        <p:spPr>
          <a:xfrm>
            <a:off x="6277356" y="137160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6734556" y="1325880"/>
            <a:ext cx="4905756" cy="3200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Siloed departmental software</a:t>
            </a:r>
            <a:endParaRPr lang="en-US" sz="1450" dirty="0"/>
          </a:p>
        </p:txBody>
      </p:sp>
      <p:sp>
        <p:nvSpPr>
          <p:cNvPr id="10" name="Text 8"/>
          <p:cNvSpPr txBox="1"/>
          <p:nvPr/>
        </p:nvSpPr>
        <p:spPr>
          <a:xfrm>
            <a:off x="6734556" y="1664208"/>
            <a:ext cx="4905756" cy="960120"/>
          </a:xfrm>
          <a:prstGeom prst="rect">
            <a:avLst/>
          </a:prstGeom>
          <a:noFill/>
          <a:ln/>
        </p:spPr>
        <p:txBody>
          <a:bodyPr wrap="square" lIns="0" tIns="0" rIns="0" bIns="0" rtlCol="0" anchor="ctr"/>
          <a:lstStyle/>
          <a:p>
            <a:pPr indent="0" marL="0">
              <a:lnSpc>
                <a:spcPct val="120000"/>
              </a:lnSpc>
              <a:buNone/>
            </a:pPr>
            <a:r>
              <a:rPr lang="en-US" sz="1250" dirty="0">
                <a:solidFill>
                  <a:srgbClr val="24262B"/>
                </a:solidFill>
                <a:latin typeface="Calibri" pitchFamily="34" charset="0"/>
                <a:ea typeface="Calibri" pitchFamily="34" charset="-122"/>
                <a:cs typeface="Calibri" pitchFamily="34" charset="-120"/>
              </a:rPr>
              <a:t>HR, finance, and procurement each use separate standalone applications with no integration between them.</a:t>
            </a:r>
            <a:endParaRPr lang="en-US" sz="1250" dirty="0"/>
          </a:p>
        </p:txBody>
      </p:sp>
      <p:sp>
        <p:nvSpPr>
          <p:cNvPr id="11" name="Shape 9"/>
          <p:cNvSpPr/>
          <p:nvPr/>
        </p:nvSpPr>
        <p:spPr>
          <a:xfrm>
            <a:off x="548640" y="2697480"/>
            <a:ext cx="329184" cy="329184"/>
          </a:xfrm>
          <a:prstGeom prst="ellipse">
            <a:avLst/>
          </a:prstGeom>
          <a:solidFill>
            <a:srgbClr val="1E2761"/>
          </a:solidFill>
          <a:ln/>
        </p:spPr>
      </p:sp>
      <p:sp>
        <p:nvSpPr>
          <p:cNvPr id="12" name="Text 10"/>
          <p:cNvSpPr txBox="1"/>
          <p:nvPr/>
        </p:nvSpPr>
        <p:spPr>
          <a:xfrm>
            <a:off x="548640" y="269748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005840" y="2651760"/>
            <a:ext cx="4905756" cy="3200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Manual data reconciliation</a:t>
            </a:r>
            <a:endParaRPr lang="en-US" sz="1450" dirty="0"/>
          </a:p>
        </p:txBody>
      </p:sp>
      <p:sp>
        <p:nvSpPr>
          <p:cNvPr id="14" name="Text 12"/>
          <p:cNvSpPr txBox="1"/>
          <p:nvPr/>
        </p:nvSpPr>
        <p:spPr>
          <a:xfrm>
            <a:off x="1005840" y="2990088"/>
            <a:ext cx="4905756" cy="960120"/>
          </a:xfrm>
          <a:prstGeom prst="rect">
            <a:avLst/>
          </a:prstGeom>
          <a:noFill/>
          <a:ln/>
        </p:spPr>
        <p:txBody>
          <a:bodyPr wrap="square" lIns="0" tIns="0" rIns="0" bIns="0" rtlCol="0" anchor="ctr"/>
          <a:lstStyle/>
          <a:p>
            <a:pPr indent="0" marL="0">
              <a:lnSpc>
                <a:spcPct val="120000"/>
              </a:lnSpc>
              <a:buNone/>
            </a:pPr>
            <a:r>
              <a:rPr lang="en-US" sz="1250" dirty="0">
                <a:solidFill>
                  <a:srgbClr val="24262B"/>
                </a:solidFill>
                <a:latin typeface="Calibri" pitchFamily="34" charset="0"/>
                <a:ea typeface="Calibri" pitchFamily="34" charset="-122"/>
                <a:cs typeface="Calibri" pitchFamily="34" charset="-120"/>
              </a:rPr>
              <a:t>Data is synced between systems by hand, causing delays, duplication, and mismatched records.</a:t>
            </a:r>
            <a:endParaRPr lang="en-US" sz="1250" dirty="0"/>
          </a:p>
        </p:txBody>
      </p:sp>
      <p:sp>
        <p:nvSpPr>
          <p:cNvPr id="15" name="Shape 13"/>
          <p:cNvSpPr/>
          <p:nvPr/>
        </p:nvSpPr>
        <p:spPr>
          <a:xfrm>
            <a:off x="6277356" y="2697480"/>
            <a:ext cx="329184" cy="329184"/>
          </a:xfrm>
          <a:prstGeom prst="ellipse">
            <a:avLst/>
          </a:prstGeom>
          <a:solidFill>
            <a:srgbClr val="1E2761"/>
          </a:solidFill>
          <a:ln/>
        </p:spPr>
      </p:sp>
      <p:sp>
        <p:nvSpPr>
          <p:cNvPr id="16" name="Text 14"/>
          <p:cNvSpPr txBox="1"/>
          <p:nvPr/>
        </p:nvSpPr>
        <p:spPr>
          <a:xfrm>
            <a:off x="6277356" y="269748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6734556" y="2651760"/>
            <a:ext cx="4905756" cy="3200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Inconsistent access control</a:t>
            </a:r>
            <a:endParaRPr lang="en-US" sz="1450" dirty="0"/>
          </a:p>
        </p:txBody>
      </p:sp>
      <p:sp>
        <p:nvSpPr>
          <p:cNvPr id="18" name="Text 16"/>
          <p:cNvSpPr txBox="1"/>
          <p:nvPr/>
        </p:nvSpPr>
        <p:spPr>
          <a:xfrm>
            <a:off x="6734556" y="2990088"/>
            <a:ext cx="4905756" cy="960120"/>
          </a:xfrm>
          <a:prstGeom prst="rect">
            <a:avLst/>
          </a:prstGeom>
          <a:noFill/>
          <a:ln/>
        </p:spPr>
        <p:txBody>
          <a:bodyPr wrap="square" lIns="0" tIns="0" rIns="0" bIns="0" rtlCol="0" anchor="ctr"/>
          <a:lstStyle/>
          <a:p>
            <a:pPr indent="0" marL="0">
              <a:lnSpc>
                <a:spcPct val="120000"/>
              </a:lnSpc>
              <a:buNone/>
            </a:pPr>
            <a:r>
              <a:rPr lang="en-US" sz="1250" dirty="0">
                <a:solidFill>
                  <a:srgbClr val="24262B"/>
                </a:solidFill>
                <a:latin typeface="Calibri" pitchFamily="34" charset="0"/>
                <a:ea typeface="Calibri" pitchFamily="34" charset="-122"/>
                <a:cs typeface="Calibri" pitchFamily="34" charset="-120"/>
              </a:rPr>
              <a:t>User permissions are handled ad hoc per tool, without a unified role-based policy across departments.</a:t>
            </a:r>
            <a:endParaRPr lang="en-US" sz="1250" dirty="0"/>
          </a:p>
        </p:txBody>
      </p:sp>
      <p:sp>
        <p:nvSpPr>
          <p:cNvPr id="19" name="Shape 17"/>
          <p:cNvSpPr/>
          <p:nvPr/>
        </p:nvSpPr>
        <p:spPr>
          <a:xfrm>
            <a:off x="548640" y="4023360"/>
            <a:ext cx="329184" cy="329184"/>
          </a:xfrm>
          <a:prstGeom prst="ellipse">
            <a:avLst/>
          </a:prstGeom>
          <a:solidFill>
            <a:srgbClr val="1E2761"/>
          </a:solidFill>
          <a:ln/>
        </p:spPr>
      </p:sp>
      <p:sp>
        <p:nvSpPr>
          <p:cNvPr id="20" name="Text 18"/>
          <p:cNvSpPr txBox="1"/>
          <p:nvPr/>
        </p:nvSpPr>
        <p:spPr>
          <a:xfrm>
            <a:off x="548640" y="402336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9"/>
          <p:cNvSpPr txBox="1"/>
          <p:nvPr/>
        </p:nvSpPr>
        <p:spPr>
          <a:xfrm>
            <a:off x="1005840" y="3977640"/>
            <a:ext cx="10634472" cy="3200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Generic tools</a:t>
            </a:r>
            <a:endParaRPr lang="en-US" sz="1450" dirty="0"/>
          </a:p>
        </p:txBody>
      </p:sp>
      <p:sp>
        <p:nvSpPr>
          <p:cNvPr id="22" name="Text 20"/>
          <p:cNvSpPr txBox="1"/>
          <p:nvPr/>
        </p:nvSpPr>
        <p:spPr>
          <a:xfrm>
            <a:off x="1005840" y="4315968"/>
            <a:ext cx="10634472" cy="731520"/>
          </a:xfrm>
          <a:prstGeom prst="rect">
            <a:avLst/>
          </a:prstGeom>
          <a:noFill/>
          <a:ln/>
        </p:spPr>
        <p:txBody>
          <a:bodyPr wrap="square" lIns="0" tIns="0" rIns="0" bIns="0" rtlCol="0" anchor="ctr"/>
          <a:lstStyle/>
          <a:p>
            <a:pPr indent="0" marL="0">
              <a:lnSpc>
                <a:spcPct val="120000"/>
              </a:lnSpc>
              <a:buNone/>
            </a:pPr>
            <a:r>
              <a:rPr lang="en-US" sz="1250" dirty="0">
                <a:solidFill>
                  <a:srgbClr val="24262B"/>
                </a:solidFill>
                <a:latin typeface="Calibri" pitchFamily="34" charset="0"/>
                <a:ea typeface="Calibri" pitchFamily="34" charset="-122"/>
                <a:cs typeface="Calibri" pitchFamily="34" charset="-120"/>
              </a:rPr>
              <a:t>Off-the-shelf spreadsheet and accounting tools aren't purpose-built for integrated SMB operations—no unified analytics or cross-department workflow.</a:t>
            </a:r>
            <a:endParaRPr lang="en-US" sz="1250" dirty="0"/>
          </a:p>
        </p:txBody>
      </p:sp>
      <p:sp>
        <p:nvSpPr>
          <p:cNvPr id="23" name="Text 21"/>
          <p:cNvSpPr/>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11091672"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Proposed System</a:t>
            </a:r>
            <a:endParaRPr lang="en-US" sz="3000" dirty="0"/>
          </a:p>
        </p:txBody>
      </p:sp>
      <p:sp>
        <p:nvSpPr>
          <p:cNvPr id="3" name="Shape 1"/>
          <p:cNvSpPr/>
          <p:nvPr/>
        </p:nvSpPr>
        <p:spPr>
          <a:xfrm>
            <a:off x="548640" y="1325880"/>
            <a:ext cx="329184" cy="329184"/>
          </a:xfrm>
          <a:prstGeom prst="ellipse">
            <a:avLst/>
          </a:prstGeom>
          <a:solidFill>
            <a:srgbClr val="1E2761"/>
          </a:solidFill>
          <a:ln/>
        </p:spPr>
      </p:sp>
      <p:sp>
        <p:nvSpPr>
          <p:cNvPr id="4" name="Text 2"/>
          <p:cNvSpPr txBox="1"/>
          <p:nvPr/>
        </p:nvSpPr>
        <p:spPr>
          <a:xfrm>
            <a:off x="548640" y="132588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005840" y="1280160"/>
            <a:ext cx="6035040"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Capture</a:t>
            </a:r>
            <a:endParaRPr lang="en-US" sz="1500" dirty="0"/>
          </a:p>
        </p:txBody>
      </p:sp>
      <p:sp>
        <p:nvSpPr>
          <p:cNvPr id="6" name="Text 4"/>
          <p:cNvSpPr txBox="1"/>
          <p:nvPr/>
        </p:nvSpPr>
        <p:spPr>
          <a:xfrm>
            <a:off x="1005840" y="1581912"/>
            <a:ext cx="6035040" cy="594360"/>
          </a:xfrm>
          <a:prstGeom prst="rect">
            <a:avLst/>
          </a:prstGeom>
          <a:noFill/>
          <a:ln/>
        </p:spPr>
        <p:txBody>
          <a:bodyPr wrap="square" lIns="0" tIns="0" rIns="0" bIns="0" rtlCol="0" anchor="ctr"/>
          <a:lstStyle/>
          <a:p>
            <a:pPr indent="0" marL="0">
              <a:lnSpc>
                <a:spcPct val="115000"/>
              </a:lnSpc>
              <a:buNone/>
            </a:pPr>
            <a:r>
              <a:rPr lang="en-US" sz="1200" dirty="0">
                <a:solidFill>
                  <a:srgbClr val="24262B"/>
                </a:solidFill>
                <a:latin typeface="Calibri" pitchFamily="34" charset="0"/>
                <a:ea typeface="Calibri" pitchFamily="34" charset="-122"/>
                <a:cs typeface="Calibri" pitchFamily="34" charset="-120"/>
              </a:rPr>
              <a:t>Transactions across inventory, sales, HR, finance, and procurement are logged through a unified interface with role-based access.</a:t>
            </a:r>
            <a:endParaRPr lang="en-US" sz="1200" dirty="0"/>
          </a:p>
        </p:txBody>
      </p:sp>
      <p:sp>
        <p:nvSpPr>
          <p:cNvPr id="7" name="Shape 5"/>
          <p:cNvSpPr/>
          <p:nvPr/>
        </p:nvSpPr>
        <p:spPr>
          <a:xfrm>
            <a:off x="548640" y="2258568"/>
            <a:ext cx="329184" cy="329184"/>
          </a:xfrm>
          <a:prstGeom prst="ellipse">
            <a:avLst/>
          </a:prstGeom>
          <a:solidFill>
            <a:srgbClr val="1E2761"/>
          </a:solidFill>
          <a:ln/>
        </p:spPr>
      </p:sp>
      <p:sp>
        <p:nvSpPr>
          <p:cNvPr id="8" name="Text 6"/>
          <p:cNvSpPr txBox="1"/>
          <p:nvPr/>
        </p:nvSpPr>
        <p:spPr>
          <a:xfrm>
            <a:off x="548640" y="225856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005840" y="2212848"/>
            <a:ext cx="6035040"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Integrate</a:t>
            </a:r>
            <a:endParaRPr lang="en-US" sz="1500" dirty="0"/>
          </a:p>
        </p:txBody>
      </p:sp>
      <p:sp>
        <p:nvSpPr>
          <p:cNvPr id="10" name="Text 8"/>
          <p:cNvSpPr txBox="1"/>
          <p:nvPr/>
        </p:nvSpPr>
        <p:spPr>
          <a:xfrm>
            <a:off x="1005840" y="2514600"/>
            <a:ext cx="6035040" cy="594360"/>
          </a:xfrm>
          <a:prstGeom prst="rect">
            <a:avLst/>
          </a:prstGeom>
          <a:noFill/>
          <a:ln/>
        </p:spPr>
        <p:txBody>
          <a:bodyPr wrap="square" lIns="0" tIns="0" rIns="0" bIns="0" rtlCol="0" anchor="ctr"/>
          <a:lstStyle/>
          <a:p>
            <a:pPr indent="0" marL="0">
              <a:lnSpc>
                <a:spcPct val="115000"/>
              </a:lnSpc>
              <a:buNone/>
            </a:pPr>
            <a:r>
              <a:rPr lang="en-US" sz="1200" dirty="0">
                <a:solidFill>
                  <a:srgbClr val="24262B"/>
                </a:solidFill>
                <a:latin typeface="Calibri" pitchFamily="34" charset="0"/>
                <a:ea typeface="Calibri" pitchFamily="34" charset="-122"/>
                <a:cs typeface="Calibri" pitchFamily="34" charset="-120"/>
              </a:rPr>
              <a:t>All modules share a centralized database, ensuring one consistent, single source of truth across departments.</a:t>
            </a:r>
            <a:endParaRPr lang="en-US" sz="1200" dirty="0"/>
          </a:p>
        </p:txBody>
      </p:sp>
      <p:sp>
        <p:nvSpPr>
          <p:cNvPr id="11" name="Shape 9"/>
          <p:cNvSpPr/>
          <p:nvPr/>
        </p:nvSpPr>
        <p:spPr>
          <a:xfrm>
            <a:off x="548640" y="3191256"/>
            <a:ext cx="329184" cy="329184"/>
          </a:xfrm>
          <a:prstGeom prst="ellipse">
            <a:avLst/>
          </a:prstGeom>
          <a:solidFill>
            <a:srgbClr val="1E2761"/>
          </a:solidFill>
          <a:ln/>
        </p:spPr>
      </p:sp>
      <p:sp>
        <p:nvSpPr>
          <p:cNvPr id="12" name="Text 10"/>
          <p:cNvSpPr txBox="1"/>
          <p:nvPr/>
        </p:nvSpPr>
        <p:spPr>
          <a:xfrm>
            <a:off x="548640" y="3191256"/>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005840" y="3145536"/>
            <a:ext cx="6035040"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Process</a:t>
            </a:r>
            <a:endParaRPr lang="en-US" sz="1500" dirty="0"/>
          </a:p>
        </p:txBody>
      </p:sp>
      <p:sp>
        <p:nvSpPr>
          <p:cNvPr id="14" name="Text 12"/>
          <p:cNvSpPr txBox="1"/>
          <p:nvPr/>
        </p:nvSpPr>
        <p:spPr>
          <a:xfrm>
            <a:off x="1005840" y="3447288"/>
            <a:ext cx="6035040" cy="594360"/>
          </a:xfrm>
          <a:prstGeom prst="rect">
            <a:avLst/>
          </a:prstGeom>
          <a:noFill/>
          <a:ln/>
        </p:spPr>
        <p:txBody>
          <a:bodyPr wrap="square" lIns="0" tIns="0" rIns="0" bIns="0" rtlCol="0" anchor="ctr"/>
          <a:lstStyle/>
          <a:p>
            <a:pPr indent="0" marL="0">
              <a:lnSpc>
                <a:spcPct val="115000"/>
              </a:lnSpc>
              <a:buNone/>
            </a:pPr>
            <a:r>
              <a:rPr lang="en-US" sz="1200" dirty="0">
                <a:solidFill>
                  <a:srgbClr val="24262B"/>
                </a:solidFill>
                <a:latin typeface="Calibri" pitchFamily="34" charset="0"/>
                <a:ea typeface="Calibri" pitchFamily="34" charset="-122"/>
                <a:cs typeface="Calibri" pitchFamily="34" charset="-120"/>
              </a:rPr>
              <a:t>Defined business rules automate stock updates, order processing, payroll entries, and approval workflows.</a:t>
            </a:r>
            <a:endParaRPr lang="en-US" sz="1200" dirty="0"/>
          </a:p>
        </p:txBody>
      </p:sp>
      <p:sp>
        <p:nvSpPr>
          <p:cNvPr id="15" name="Shape 13"/>
          <p:cNvSpPr/>
          <p:nvPr/>
        </p:nvSpPr>
        <p:spPr>
          <a:xfrm>
            <a:off x="548640" y="4123944"/>
            <a:ext cx="329184" cy="329184"/>
          </a:xfrm>
          <a:prstGeom prst="ellipse">
            <a:avLst/>
          </a:prstGeom>
          <a:solidFill>
            <a:srgbClr val="1E2761"/>
          </a:solidFill>
          <a:ln/>
        </p:spPr>
      </p:sp>
      <p:sp>
        <p:nvSpPr>
          <p:cNvPr id="16" name="Text 14"/>
          <p:cNvSpPr txBox="1"/>
          <p:nvPr/>
        </p:nvSpPr>
        <p:spPr>
          <a:xfrm>
            <a:off x="548640" y="4123944"/>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005840" y="4078224"/>
            <a:ext cx="6035040"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Analyze</a:t>
            </a:r>
            <a:endParaRPr lang="en-US" sz="1500" dirty="0"/>
          </a:p>
        </p:txBody>
      </p:sp>
      <p:sp>
        <p:nvSpPr>
          <p:cNvPr id="18" name="Text 16"/>
          <p:cNvSpPr txBox="1"/>
          <p:nvPr/>
        </p:nvSpPr>
        <p:spPr>
          <a:xfrm>
            <a:off x="1005840" y="4379976"/>
            <a:ext cx="6035040" cy="594360"/>
          </a:xfrm>
          <a:prstGeom prst="rect">
            <a:avLst/>
          </a:prstGeom>
          <a:noFill/>
          <a:ln/>
        </p:spPr>
        <p:txBody>
          <a:bodyPr wrap="square" lIns="0" tIns="0" rIns="0" bIns="0" rtlCol="0" anchor="ctr"/>
          <a:lstStyle/>
          <a:p>
            <a:pPr indent="0" marL="0">
              <a:lnSpc>
                <a:spcPct val="115000"/>
              </a:lnSpc>
              <a:buNone/>
            </a:pPr>
            <a:r>
              <a:rPr lang="en-US" sz="1200" dirty="0">
                <a:solidFill>
                  <a:srgbClr val="24262B"/>
                </a:solidFill>
                <a:latin typeface="Calibri" pitchFamily="34" charset="0"/>
                <a:ea typeface="Calibri" pitchFamily="34" charset="-122"/>
                <a:cs typeface="Calibri" pitchFamily="34" charset="-120"/>
              </a:rPr>
              <a:t>Analytics dashboards provide real-time insight into sales, inventory levels, financials, and HR metrics.</a:t>
            </a:r>
            <a:endParaRPr lang="en-US" sz="1200" dirty="0"/>
          </a:p>
        </p:txBody>
      </p:sp>
      <p:sp>
        <p:nvSpPr>
          <p:cNvPr id="19" name="Shape 17"/>
          <p:cNvSpPr/>
          <p:nvPr/>
        </p:nvSpPr>
        <p:spPr>
          <a:xfrm>
            <a:off x="548640" y="5056632"/>
            <a:ext cx="329184" cy="329184"/>
          </a:xfrm>
          <a:prstGeom prst="ellipse">
            <a:avLst/>
          </a:prstGeom>
          <a:solidFill>
            <a:srgbClr val="1E2761"/>
          </a:solidFill>
          <a:ln/>
        </p:spPr>
      </p:sp>
      <p:sp>
        <p:nvSpPr>
          <p:cNvPr id="20" name="Text 18"/>
          <p:cNvSpPr txBox="1"/>
          <p:nvPr/>
        </p:nvSpPr>
        <p:spPr>
          <a:xfrm>
            <a:off x="548640" y="5056632"/>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9"/>
          <p:cNvSpPr txBox="1"/>
          <p:nvPr/>
        </p:nvSpPr>
        <p:spPr>
          <a:xfrm>
            <a:off x="1005840" y="5010912"/>
            <a:ext cx="6035040"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Manage</a:t>
            </a:r>
            <a:endParaRPr lang="en-US" sz="1500" dirty="0"/>
          </a:p>
        </p:txBody>
      </p:sp>
      <p:sp>
        <p:nvSpPr>
          <p:cNvPr id="22" name="Text 20"/>
          <p:cNvSpPr txBox="1"/>
          <p:nvPr/>
        </p:nvSpPr>
        <p:spPr>
          <a:xfrm>
            <a:off x="1005840" y="5312664"/>
            <a:ext cx="6035040" cy="594360"/>
          </a:xfrm>
          <a:prstGeom prst="rect">
            <a:avLst/>
          </a:prstGeom>
          <a:noFill/>
          <a:ln/>
        </p:spPr>
        <p:txBody>
          <a:bodyPr wrap="square" lIns="0" tIns="0" rIns="0" bIns="0" rtlCol="0" anchor="ctr"/>
          <a:lstStyle/>
          <a:p>
            <a:pPr indent="0" marL="0">
              <a:lnSpc>
                <a:spcPct val="115000"/>
              </a:lnSpc>
              <a:buNone/>
            </a:pPr>
            <a:r>
              <a:rPr lang="en-US" sz="1200" dirty="0">
                <a:solidFill>
                  <a:srgbClr val="24262B"/>
                </a:solidFill>
                <a:latin typeface="Calibri" pitchFamily="34" charset="0"/>
                <a:ea typeface="Calibri" pitchFamily="34" charset="-122"/>
                <a:cs typeface="Calibri" pitchFamily="34" charset="-120"/>
              </a:rPr>
              <a:t>Role-based dashboards let owners and managers monitor and control operations end-to-end.</a:t>
            </a:r>
            <a:endParaRPr lang="en-US" sz="1200" dirty="0"/>
          </a:p>
        </p:txBody>
      </p:sp>
      <p:sp>
        <p:nvSpPr>
          <p:cNvPr id="23" name="Text 21"/>
          <p:cNvSpPr txBox="1"/>
          <p:nvPr/>
        </p:nvSpPr>
        <p:spPr>
          <a:xfrm>
            <a:off x="7406640" y="1280160"/>
            <a:ext cx="4233672" cy="3200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Planned Technical Flow</a:t>
            </a:r>
            <a:endParaRPr lang="en-US" sz="1450" dirty="0"/>
          </a:p>
        </p:txBody>
      </p:sp>
      <p:sp>
        <p:nvSpPr>
          <p:cNvPr id="24" name="Text 22"/>
          <p:cNvSpPr txBox="1"/>
          <p:nvPr/>
        </p:nvSpPr>
        <p:spPr>
          <a:xfrm>
            <a:off x="7406640" y="1645920"/>
            <a:ext cx="4233672" cy="822960"/>
          </a:xfrm>
          <a:prstGeom prst="rect">
            <a:avLst/>
          </a:prstGeom>
          <a:noFill/>
          <a:ln/>
        </p:spPr>
        <p:txBody>
          <a:bodyPr wrap="square" lIns="0" tIns="0" rIns="0" bIns="0" rtlCol="0" anchor="ctr"/>
          <a:lstStyle/>
          <a:p>
            <a:pPr indent="0" marL="0">
              <a:lnSpc>
                <a:spcPct val="120000"/>
              </a:lnSpc>
              <a:buNone/>
            </a:pPr>
            <a:r>
              <a:rPr lang="en-US" sz="1150" dirty="0">
                <a:solidFill>
                  <a:srgbClr val="5B6270"/>
                </a:solidFill>
                <a:latin typeface="Calibri" pitchFamily="34" charset="0"/>
                <a:ea typeface="Calibri" pitchFamily="34" charset="-122"/>
                <a:cs typeface="Calibri" pitchFamily="34" charset="-120"/>
              </a:rPr>
              <a:t>User / Employee  →  React Frontend  →  Node.js / Express API  →  MongoDB  →  Analytics &amp; Notifications</a:t>
            </a:r>
            <a:endParaRPr lang="en-US" sz="1150" dirty="0"/>
          </a:p>
        </p:txBody>
      </p:sp>
      <p:sp>
        <p:nvSpPr>
          <p:cNvPr id="25" name="Shape 23"/>
          <p:cNvSpPr/>
          <p:nvPr/>
        </p:nvSpPr>
        <p:spPr>
          <a:xfrm>
            <a:off x="7406640" y="2651760"/>
            <a:ext cx="4233672" cy="2377440"/>
          </a:xfrm>
          <a:prstGeom prst="roundRect">
            <a:avLst>
              <a:gd name="adj" fmla="val 4615"/>
            </a:avLst>
          </a:prstGeom>
          <a:solidFill>
            <a:srgbClr val="E9EDFB"/>
          </a:solidFill>
          <a:ln/>
        </p:spPr>
      </p:sp>
      <p:sp>
        <p:nvSpPr>
          <p:cNvPr id="26" name="Text 24"/>
          <p:cNvSpPr txBox="1"/>
          <p:nvPr/>
        </p:nvSpPr>
        <p:spPr>
          <a:xfrm>
            <a:off x="7680960" y="2834640"/>
            <a:ext cx="3685032" cy="2011680"/>
          </a:xfrm>
          <a:prstGeom prst="rect">
            <a:avLst/>
          </a:prstGeom>
          <a:noFill/>
          <a:ln/>
        </p:spPr>
        <p:txBody>
          <a:bodyPr wrap="square" lIns="0" tIns="0" rIns="0" bIns="0" rtlCol="0" anchor="ctr"/>
          <a:lstStyle/>
          <a:p>
            <a:pPr indent="0" marL="0">
              <a:lnSpc>
                <a:spcPct val="130000"/>
              </a:lnSpc>
              <a:buNone/>
            </a:pPr>
            <a:r>
              <a:rPr lang="en-US" sz="1300" i="1" dirty="0">
                <a:solidFill>
                  <a:srgbClr val="1E2761"/>
                </a:solidFill>
                <a:latin typeface="Calibri" pitchFamily="34" charset="0"/>
                <a:ea typeface="Calibri" pitchFamily="34" charset="-122"/>
                <a:cs typeface="Calibri" pitchFamily="34" charset="-120"/>
              </a:rPr>
              <a:t>Centralized ERP lifecycle stages create an end-to-end workflow with role-based access, integrated data, automated processing, and real-time analytics across every department.</a:t>
            </a:r>
            <a:endParaRPr lang="en-US" sz="1300" dirty="0"/>
          </a:p>
        </p:txBody>
      </p:sp>
      <p:sp>
        <p:nvSpPr>
          <p:cNvPr id="27" name="Text 25"/>
          <p:cNvSpPr/>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11091672"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Objectives</a:t>
            </a:r>
            <a:endParaRPr lang="en-US" sz="3000" dirty="0"/>
          </a:p>
        </p:txBody>
      </p:sp>
      <p:sp>
        <p:nvSpPr>
          <p:cNvPr id="3" name="Shape 1"/>
          <p:cNvSpPr/>
          <p:nvPr/>
        </p:nvSpPr>
        <p:spPr>
          <a:xfrm>
            <a:off x="548640" y="1371600"/>
            <a:ext cx="329184" cy="329184"/>
          </a:xfrm>
          <a:prstGeom prst="ellipse">
            <a:avLst/>
          </a:prstGeom>
          <a:solidFill>
            <a:srgbClr val="1E2761"/>
          </a:solidFill>
          <a:ln/>
        </p:spPr>
      </p:sp>
      <p:sp>
        <p:nvSpPr>
          <p:cNvPr id="4" name="Text 2"/>
          <p:cNvSpPr txBox="1"/>
          <p:nvPr/>
        </p:nvSpPr>
        <p:spPr>
          <a:xfrm>
            <a:off x="548640" y="137160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005840" y="1325880"/>
            <a:ext cx="4905756" cy="3200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Centralized platform</a:t>
            </a:r>
            <a:endParaRPr lang="en-US" sz="1450" dirty="0"/>
          </a:p>
        </p:txBody>
      </p:sp>
      <p:sp>
        <p:nvSpPr>
          <p:cNvPr id="6" name="Text 4"/>
          <p:cNvSpPr txBox="1"/>
          <p:nvPr/>
        </p:nvSpPr>
        <p:spPr>
          <a:xfrm>
            <a:off x="1005840" y="1664208"/>
            <a:ext cx="4905756" cy="822960"/>
          </a:xfrm>
          <a:prstGeom prst="rect">
            <a:avLst/>
          </a:prstGeom>
          <a:noFill/>
          <a:ln/>
        </p:spPr>
        <p:txBody>
          <a:bodyPr wrap="square" lIns="0" tIns="0" rIns="0" bIns="0" rtlCol="0" anchor="ctr"/>
          <a:lstStyle/>
          <a:p>
            <a:pPr indent="0" marL="0">
              <a:lnSpc>
                <a:spcPct val="120000"/>
              </a:lnSpc>
              <a:buNone/>
            </a:pPr>
            <a:r>
              <a:rPr lang="en-US" sz="1250" dirty="0">
                <a:solidFill>
                  <a:srgbClr val="24262B"/>
                </a:solidFill>
                <a:latin typeface="Calibri" pitchFamily="34" charset="0"/>
                <a:ea typeface="Calibri" pitchFamily="34" charset="-122"/>
                <a:cs typeface="Calibri" pitchFamily="34" charset="-120"/>
              </a:rPr>
              <a:t>Design a unified platform integrating inventory, sales, HR, finance, and procurement.</a:t>
            </a:r>
            <a:endParaRPr lang="en-US" sz="1250" dirty="0"/>
          </a:p>
        </p:txBody>
      </p:sp>
      <p:sp>
        <p:nvSpPr>
          <p:cNvPr id="7" name="Shape 5"/>
          <p:cNvSpPr/>
          <p:nvPr/>
        </p:nvSpPr>
        <p:spPr>
          <a:xfrm>
            <a:off x="6277356" y="1371600"/>
            <a:ext cx="329184" cy="329184"/>
          </a:xfrm>
          <a:prstGeom prst="ellipse">
            <a:avLst/>
          </a:prstGeom>
          <a:solidFill>
            <a:srgbClr val="1E2761"/>
          </a:solidFill>
          <a:ln/>
        </p:spPr>
      </p:sp>
      <p:sp>
        <p:nvSpPr>
          <p:cNvPr id="8" name="Text 6"/>
          <p:cNvSpPr txBox="1"/>
          <p:nvPr/>
        </p:nvSpPr>
        <p:spPr>
          <a:xfrm>
            <a:off x="6277356" y="137160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6734556" y="1325880"/>
            <a:ext cx="4905756" cy="3200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Role-based access</a:t>
            </a:r>
            <a:endParaRPr lang="en-US" sz="1450" dirty="0"/>
          </a:p>
        </p:txBody>
      </p:sp>
      <p:sp>
        <p:nvSpPr>
          <p:cNvPr id="10" name="Text 8"/>
          <p:cNvSpPr txBox="1"/>
          <p:nvPr/>
        </p:nvSpPr>
        <p:spPr>
          <a:xfrm>
            <a:off x="6734556" y="1664208"/>
            <a:ext cx="4905756" cy="822960"/>
          </a:xfrm>
          <a:prstGeom prst="rect">
            <a:avLst/>
          </a:prstGeom>
          <a:noFill/>
          <a:ln/>
        </p:spPr>
        <p:txBody>
          <a:bodyPr wrap="square" lIns="0" tIns="0" rIns="0" bIns="0" rtlCol="0" anchor="ctr"/>
          <a:lstStyle/>
          <a:p>
            <a:pPr indent="0" marL="0">
              <a:lnSpc>
                <a:spcPct val="120000"/>
              </a:lnSpc>
              <a:buNone/>
            </a:pPr>
            <a:r>
              <a:rPr lang="en-US" sz="1250" dirty="0">
                <a:solidFill>
                  <a:srgbClr val="24262B"/>
                </a:solidFill>
                <a:latin typeface="Calibri" pitchFamily="34" charset="0"/>
                <a:ea typeface="Calibri" pitchFamily="34" charset="-122"/>
                <a:cs typeface="Calibri" pitchFamily="34" charset="-120"/>
              </a:rPr>
              <a:t>Implement role-based access control for secure, department-appropriate data access.</a:t>
            </a:r>
            <a:endParaRPr lang="en-US" sz="1250" dirty="0"/>
          </a:p>
        </p:txBody>
      </p:sp>
      <p:sp>
        <p:nvSpPr>
          <p:cNvPr id="11" name="Shape 9"/>
          <p:cNvSpPr/>
          <p:nvPr/>
        </p:nvSpPr>
        <p:spPr>
          <a:xfrm>
            <a:off x="548640" y="2697480"/>
            <a:ext cx="329184" cy="329184"/>
          </a:xfrm>
          <a:prstGeom prst="ellipse">
            <a:avLst/>
          </a:prstGeom>
          <a:solidFill>
            <a:srgbClr val="1E2761"/>
          </a:solidFill>
          <a:ln/>
        </p:spPr>
      </p:sp>
      <p:sp>
        <p:nvSpPr>
          <p:cNvPr id="12" name="Text 10"/>
          <p:cNvSpPr txBox="1"/>
          <p:nvPr/>
        </p:nvSpPr>
        <p:spPr>
          <a:xfrm>
            <a:off x="548640" y="269748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005840" y="2651760"/>
            <a:ext cx="4905756" cy="3200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Real-time analytics</a:t>
            </a:r>
            <a:endParaRPr lang="en-US" sz="1450" dirty="0"/>
          </a:p>
        </p:txBody>
      </p:sp>
      <p:sp>
        <p:nvSpPr>
          <p:cNvPr id="14" name="Text 12"/>
          <p:cNvSpPr txBox="1"/>
          <p:nvPr/>
        </p:nvSpPr>
        <p:spPr>
          <a:xfrm>
            <a:off x="1005840" y="2990088"/>
            <a:ext cx="4905756" cy="822960"/>
          </a:xfrm>
          <a:prstGeom prst="rect">
            <a:avLst/>
          </a:prstGeom>
          <a:noFill/>
          <a:ln/>
        </p:spPr>
        <p:txBody>
          <a:bodyPr wrap="square" lIns="0" tIns="0" rIns="0" bIns="0" rtlCol="0" anchor="ctr"/>
          <a:lstStyle/>
          <a:p>
            <a:pPr indent="0" marL="0">
              <a:lnSpc>
                <a:spcPct val="120000"/>
              </a:lnSpc>
              <a:buNone/>
            </a:pPr>
            <a:r>
              <a:rPr lang="en-US" sz="1250" dirty="0">
                <a:solidFill>
                  <a:srgbClr val="24262B"/>
                </a:solidFill>
                <a:latin typeface="Calibri" pitchFamily="34" charset="0"/>
                <a:ea typeface="Calibri" pitchFamily="34" charset="-122"/>
                <a:cs typeface="Calibri" pitchFamily="34" charset="-120"/>
              </a:rPr>
              <a:t>Provide real-time dashboards and reports across all business functions.</a:t>
            </a:r>
            <a:endParaRPr lang="en-US" sz="1250" dirty="0"/>
          </a:p>
        </p:txBody>
      </p:sp>
      <p:sp>
        <p:nvSpPr>
          <p:cNvPr id="15" name="Shape 13"/>
          <p:cNvSpPr/>
          <p:nvPr/>
        </p:nvSpPr>
        <p:spPr>
          <a:xfrm>
            <a:off x="6277356" y="2697480"/>
            <a:ext cx="329184" cy="329184"/>
          </a:xfrm>
          <a:prstGeom prst="ellipse">
            <a:avLst/>
          </a:prstGeom>
          <a:solidFill>
            <a:srgbClr val="1E2761"/>
          </a:solidFill>
          <a:ln/>
        </p:spPr>
      </p:sp>
      <p:sp>
        <p:nvSpPr>
          <p:cNvPr id="16" name="Text 14"/>
          <p:cNvSpPr txBox="1"/>
          <p:nvPr/>
        </p:nvSpPr>
        <p:spPr>
          <a:xfrm>
            <a:off x="6277356" y="269748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6734556" y="2651760"/>
            <a:ext cx="4905756" cy="3200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Streamlined workflows</a:t>
            </a:r>
            <a:endParaRPr lang="en-US" sz="1450" dirty="0"/>
          </a:p>
        </p:txBody>
      </p:sp>
      <p:sp>
        <p:nvSpPr>
          <p:cNvPr id="18" name="Text 16"/>
          <p:cNvSpPr txBox="1"/>
          <p:nvPr/>
        </p:nvSpPr>
        <p:spPr>
          <a:xfrm>
            <a:off x="6734556" y="2990088"/>
            <a:ext cx="4905756" cy="822960"/>
          </a:xfrm>
          <a:prstGeom prst="rect">
            <a:avLst/>
          </a:prstGeom>
          <a:noFill/>
          <a:ln/>
        </p:spPr>
        <p:txBody>
          <a:bodyPr wrap="square" lIns="0" tIns="0" rIns="0" bIns="0" rtlCol="0" anchor="ctr"/>
          <a:lstStyle/>
          <a:p>
            <a:pPr indent="0" marL="0">
              <a:lnSpc>
                <a:spcPct val="120000"/>
              </a:lnSpc>
              <a:buNone/>
            </a:pPr>
            <a:r>
              <a:rPr lang="en-US" sz="1250" dirty="0">
                <a:solidFill>
                  <a:srgbClr val="24262B"/>
                </a:solidFill>
                <a:latin typeface="Calibri" pitchFamily="34" charset="0"/>
                <a:ea typeface="Calibri" pitchFamily="34" charset="-122"/>
                <a:cs typeface="Calibri" pitchFamily="34" charset="-120"/>
              </a:rPr>
              <a:t>Automate routine processes such as stock updates, order approvals, and payroll entries.</a:t>
            </a:r>
            <a:endParaRPr lang="en-US" sz="1250" dirty="0"/>
          </a:p>
        </p:txBody>
      </p:sp>
      <p:sp>
        <p:nvSpPr>
          <p:cNvPr id="19" name="Shape 17"/>
          <p:cNvSpPr/>
          <p:nvPr/>
        </p:nvSpPr>
        <p:spPr>
          <a:xfrm>
            <a:off x="548640" y="4023360"/>
            <a:ext cx="329184" cy="329184"/>
          </a:xfrm>
          <a:prstGeom prst="ellipse">
            <a:avLst/>
          </a:prstGeom>
          <a:solidFill>
            <a:srgbClr val="1E2761"/>
          </a:solidFill>
          <a:ln/>
        </p:spPr>
      </p:sp>
      <p:sp>
        <p:nvSpPr>
          <p:cNvPr id="20" name="Text 18"/>
          <p:cNvSpPr txBox="1"/>
          <p:nvPr/>
        </p:nvSpPr>
        <p:spPr>
          <a:xfrm>
            <a:off x="548640" y="402336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9"/>
          <p:cNvSpPr txBox="1"/>
          <p:nvPr/>
        </p:nvSpPr>
        <p:spPr>
          <a:xfrm>
            <a:off x="1005840" y="3977640"/>
            <a:ext cx="4905756" cy="3200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Data consistency</a:t>
            </a:r>
            <a:endParaRPr lang="en-US" sz="1450" dirty="0"/>
          </a:p>
        </p:txBody>
      </p:sp>
      <p:sp>
        <p:nvSpPr>
          <p:cNvPr id="22" name="Text 20"/>
          <p:cNvSpPr txBox="1"/>
          <p:nvPr/>
        </p:nvSpPr>
        <p:spPr>
          <a:xfrm>
            <a:off x="1005840" y="4315968"/>
            <a:ext cx="4905756" cy="822960"/>
          </a:xfrm>
          <a:prstGeom prst="rect">
            <a:avLst/>
          </a:prstGeom>
          <a:noFill/>
          <a:ln/>
        </p:spPr>
        <p:txBody>
          <a:bodyPr wrap="square" lIns="0" tIns="0" rIns="0" bIns="0" rtlCol="0" anchor="ctr"/>
          <a:lstStyle/>
          <a:p>
            <a:pPr indent="0" marL="0">
              <a:lnSpc>
                <a:spcPct val="120000"/>
              </a:lnSpc>
              <a:buNone/>
            </a:pPr>
            <a:r>
              <a:rPr lang="en-US" sz="1250" dirty="0">
                <a:solidFill>
                  <a:srgbClr val="24262B"/>
                </a:solidFill>
                <a:latin typeface="Calibri" pitchFamily="34" charset="0"/>
                <a:ea typeface="Calibri" pitchFamily="34" charset="-122"/>
                <a:cs typeface="Calibri" pitchFamily="34" charset="-120"/>
              </a:rPr>
              <a:t>Maintain a single source of truth across all integrated modules.</a:t>
            </a:r>
            <a:endParaRPr lang="en-US" sz="1250" dirty="0"/>
          </a:p>
        </p:txBody>
      </p:sp>
      <p:sp>
        <p:nvSpPr>
          <p:cNvPr id="23" name="Shape 21"/>
          <p:cNvSpPr/>
          <p:nvPr/>
        </p:nvSpPr>
        <p:spPr>
          <a:xfrm>
            <a:off x="6277356" y="4023360"/>
            <a:ext cx="329184" cy="329184"/>
          </a:xfrm>
          <a:prstGeom prst="ellipse">
            <a:avLst/>
          </a:prstGeom>
          <a:solidFill>
            <a:srgbClr val="1E2761"/>
          </a:solidFill>
          <a:ln/>
        </p:spPr>
      </p:sp>
      <p:sp>
        <p:nvSpPr>
          <p:cNvPr id="24" name="Text 22"/>
          <p:cNvSpPr txBox="1"/>
          <p:nvPr/>
        </p:nvSpPr>
        <p:spPr>
          <a:xfrm>
            <a:off x="6277356" y="402336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5" name="Text 23"/>
          <p:cNvSpPr txBox="1"/>
          <p:nvPr/>
        </p:nvSpPr>
        <p:spPr>
          <a:xfrm>
            <a:off x="6734556" y="3977640"/>
            <a:ext cx="4905756" cy="3200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Scalable architecture</a:t>
            </a:r>
            <a:endParaRPr lang="en-US" sz="1450" dirty="0"/>
          </a:p>
        </p:txBody>
      </p:sp>
      <p:sp>
        <p:nvSpPr>
          <p:cNvPr id="26" name="Text 24"/>
          <p:cNvSpPr txBox="1"/>
          <p:nvPr/>
        </p:nvSpPr>
        <p:spPr>
          <a:xfrm>
            <a:off x="6734556" y="4315968"/>
            <a:ext cx="4905756" cy="822960"/>
          </a:xfrm>
          <a:prstGeom prst="rect">
            <a:avLst/>
          </a:prstGeom>
          <a:noFill/>
          <a:ln/>
        </p:spPr>
        <p:txBody>
          <a:bodyPr wrap="square" lIns="0" tIns="0" rIns="0" bIns="0" rtlCol="0" anchor="ctr"/>
          <a:lstStyle/>
          <a:p>
            <a:pPr indent="0" marL="0">
              <a:lnSpc>
                <a:spcPct val="120000"/>
              </a:lnSpc>
              <a:buNone/>
            </a:pPr>
            <a:r>
              <a:rPr lang="en-US" sz="1250" dirty="0">
                <a:solidFill>
                  <a:srgbClr val="24262B"/>
                </a:solidFill>
                <a:latin typeface="Calibri" pitchFamily="34" charset="0"/>
                <a:ea typeface="Calibri" pitchFamily="34" charset="-122"/>
                <a:cs typeface="Calibri" pitchFamily="34" charset="-120"/>
              </a:rPr>
              <a:t>Build a scalable full-stack architecture suited to growing SMB needs.</a:t>
            </a:r>
            <a:endParaRPr lang="en-US" sz="1250" dirty="0"/>
          </a:p>
        </p:txBody>
      </p:sp>
      <p:sp>
        <p:nvSpPr>
          <p:cNvPr id="27" name="Text 25"/>
          <p:cNvSpPr/>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11091672"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Scope</a:t>
            </a:r>
            <a:endParaRPr lang="en-US" sz="3000" dirty="0"/>
          </a:p>
        </p:txBody>
      </p:sp>
      <p:sp>
        <p:nvSpPr>
          <p:cNvPr id="3" name="Shape 1"/>
          <p:cNvSpPr/>
          <p:nvPr/>
        </p:nvSpPr>
        <p:spPr>
          <a:xfrm>
            <a:off x="548640" y="1234440"/>
            <a:ext cx="5362956" cy="4480560"/>
          </a:xfrm>
          <a:prstGeom prst="roundRect">
            <a:avLst>
              <a:gd name="adj" fmla="val 2041"/>
            </a:avLst>
          </a:prstGeom>
          <a:solidFill>
            <a:srgbClr val="F3F5FC"/>
          </a:solidFill>
          <a:ln/>
        </p:spPr>
      </p:sp>
      <p:sp>
        <p:nvSpPr>
          <p:cNvPr id="4" name="Shape 2"/>
          <p:cNvSpPr/>
          <p:nvPr/>
        </p:nvSpPr>
        <p:spPr>
          <a:xfrm>
            <a:off x="6277356" y="1234440"/>
            <a:ext cx="5362956" cy="4480560"/>
          </a:xfrm>
          <a:prstGeom prst="roundRect">
            <a:avLst>
              <a:gd name="adj" fmla="val 2041"/>
            </a:avLst>
          </a:prstGeom>
          <a:solidFill>
            <a:srgbClr val="F3F5FC"/>
          </a:solidFill>
          <a:ln/>
        </p:spPr>
      </p:sp>
      <p:sp>
        <p:nvSpPr>
          <p:cNvPr id="5" name="Text 3"/>
          <p:cNvSpPr txBox="1"/>
          <p:nvPr/>
        </p:nvSpPr>
        <p:spPr>
          <a:xfrm>
            <a:off x="822960" y="1463040"/>
            <a:ext cx="4814316"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In Scope</a:t>
            </a:r>
            <a:endParaRPr lang="en-US" sz="1600" dirty="0"/>
          </a:p>
        </p:txBody>
      </p:sp>
      <p:sp>
        <p:nvSpPr>
          <p:cNvPr id="6" name="Text 4"/>
          <p:cNvSpPr txBox="1"/>
          <p:nvPr/>
        </p:nvSpPr>
        <p:spPr>
          <a:xfrm>
            <a:off x="6551676" y="1463040"/>
            <a:ext cx="4814316"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Out of Scope / Future Work</a:t>
            </a:r>
            <a:endParaRPr lang="en-US" sz="1600" dirty="0"/>
          </a:p>
        </p:txBody>
      </p:sp>
      <p:sp>
        <p:nvSpPr>
          <p:cNvPr id="7" name="Text 5"/>
          <p:cNvSpPr txBox="1"/>
          <p:nvPr/>
        </p:nvSpPr>
        <p:spPr>
          <a:xfrm>
            <a:off x="822960" y="1965960"/>
            <a:ext cx="4814316" cy="3474720"/>
          </a:xfrm>
          <a:prstGeom prst="rect">
            <a:avLst/>
          </a:prstGeom>
          <a:noFill/>
          <a:ln/>
        </p:spPr>
        <p:txBody>
          <a:bodyPr wrap="square" lIns="0" tIns="0" rIns="0" bIns="0" rtlCol="0" anchor="ctr"/>
          <a:lstStyle/>
          <a:p>
            <a:pPr marL="177800" indent="-177800">
              <a:lnSpc>
                <a:spcPct val="125000"/>
              </a:lnSpc>
              <a:spcAft>
                <a:spcPts val="800"/>
              </a:spcAft>
              <a:buSzPct val="100000"/>
              <a:buChar char="●"/>
            </a:pPr>
            <a:r>
              <a:rPr lang="en-US" sz="1250" dirty="0">
                <a:solidFill>
                  <a:srgbClr val="24262B"/>
                </a:solidFill>
                <a:latin typeface="Calibri" pitchFamily="34" charset="0"/>
                <a:ea typeface="Calibri" pitchFamily="34" charset="-122"/>
                <a:cs typeface="Calibri" pitchFamily="34" charset="-120"/>
              </a:rPr>
              <a:t>Inventory module: stock tracking and reorder alerts.</a:t>
            </a:r>
            <a:endParaRPr lang="en-US" sz="1250" dirty="0"/>
          </a:p>
          <a:p>
            <a:pPr indent="0" marL="0">
              <a:lnSpc>
                <a:spcPct val="125000"/>
              </a:lnSpc>
              <a:spcAft>
                <a:spcPts val="800"/>
              </a:spcAft>
              <a:buNone/>
            </a:pPr>
            <a:endParaRPr lang="en-US" sz="1250" dirty="0"/>
          </a:p>
          <a:p>
            <a:pPr marL="177800" indent="-177800">
              <a:lnSpc>
                <a:spcPct val="125000"/>
              </a:lnSpc>
              <a:spcAft>
                <a:spcPts val="800"/>
              </a:spcAft>
              <a:buSzPct val="100000"/>
              <a:buChar char="●"/>
            </a:pPr>
            <a:r>
              <a:rPr lang="en-US" sz="1250" dirty="0">
                <a:solidFill>
                  <a:srgbClr val="24262B"/>
                </a:solidFill>
                <a:latin typeface="Calibri" pitchFamily="34" charset="0"/>
                <a:ea typeface="Calibri" pitchFamily="34" charset="-122"/>
                <a:cs typeface="Calibri" pitchFamily="34" charset="-120"/>
              </a:rPr>
              <a:t>Sales module: order processing and invoicing.</a:t>
            </a:r>
            <a:endParaRPr lang="en-US" sz="1250" dirty="0"/>
          </a:p>
          <a:p>
            <a:pPr indent="0" marL="0">
              <a:lnSpc>
                <a:spcPct val="125000"/>
              </a:lnSpc>
              <a:spcAft>
                <a:spcPts val="800"/>
              </a:spcAft>
              <a:buNone/>
            </a:pPr>
            <a:endParaRPr lang="en-US" sz="1250" dirty="0"/>
          </a:p>
          <a:p>
            <a:pPr marL="177800" indent="-177800">
              <a:lnSpc>
                <a:spcPct val="125000"/>
              </a:lnSpc>
              <a:spcAft>
                <a:spcPts val="800"/>
              </a:spcAft>
              <a:buSzPct val="100000"/>
              <a:buChar char="●"/>
            </a:pPr>
            <a:r>
              <a:rPr lang="en-US" sz="1250" dirty="0">
                <a:solidFill>
                  <a:srgbClr val="24262B"/>
                </a:solidFill>
                <a:latin typeface="Calibri" pitchFamily="34" charset="0"/>
                <a:ea typeface="Calibri" pitchFamily="34" charset="-122"/>
                <a:cs typeface="Calibri" pitchFamily="34" charset="-120"/>
              </a:rPr>
              <a:t>HR module: employee records and basic attendance.</a:t>
            </a:r>
            <a:endParaRPr lang="en-US" sz="1250" dirty="0"/>
          </a:p>
          <a:p>
            <a:pPr indent="0" marL="0">
              <a:lnSpc>
                <a:spcPct val="125000"/>
              </a:lnSpc>
              <a:spcAft>
                <a:spcPts val="800"/>
              </a:spcAft>
              <a:buNone/>
            </a:pPr>
            <a:endParaRPr lang="en-US" sz="1250" dirty="0"/>
          </a:p>
          <a:p>
            <a:pPr marL="177800" indent="-177800">
              <a:lnSpc>
                <a:spcPct val="125000"/>
              </a:lnSpc>
              <a:spcAft>
                <a:spcPts val="800"/>
              </a:spcAft>
              <a:buSzPct val="100000"/>
              <a:buChar char="●"/>
            </a:pPr>
            <a:r>
              <a:rPr lang="en-US" sz="1250" dirty="0">
                <a:solidFill>
                  <a:srgbClr val="24262B"/>
                </a:solidFill>
                <a:latin typeface="Calibri" pitchFamily="34" charset="0"/>
                <a:ea typeface="Calibri" pitchFamily="34" charset="-122"/>
                <a:cs typeface="Calibri" pitchFamily="34" charset="-120"/>
              </a:rPr>
              <a:t>Finance module: expense tracking and basic reporting.</a:t>
            </a:r>
            <a:endParaRPr lang="en-US" sz="1250" dirty="0"/>
          </a:p>
          <a:p>
            <a:pPr indent="0" marL="0">
              <a:lnSpc>
                <a:spcPct val="125000"/>
              </a:lnSpc>
              <a:spcAft>
                <a:spcPts val="800"/>
              </a:spcAft>
              <a:buNone/>
            </a:pPr>
            <a:endParaRPr lang="en-US" sz="1250" dirty="0"/>
          </a:p>
          <a:p>
            <a:pPr marL="177800" indent="-177800">
              <a:lnSpc>
                <a:spcPct val="125000"/>
              </a:lnSpc>
              <a:spcAft>
                <a:spcPts val="800"/>
              </a:spcAft>
              <a:buSzPct val="100000"/>
              <a:buChar char="●"/>
            </a:pPr>
            <a:r>
              <a:rPr lang="en-US" sz="1250" dirty="0">
                <a:solidFill>
                  <a:srgbClr val="24262B"/>
                </a:solidFill>
                <a:latin typeface="Calibri" pitchFamily="34" charset="0"/>
                <a:ea typeface="Calibri" pitchFamily="34" charset="-122"/>
                <a:cs typeface="Calibri" pitchFamily="34" charset="-120"/>
              </a:rPr>
              <a:t>Procurement module: purchase orders and vendor records.</a:t>
            </a:r>
            <a:endParaRPr lang="en-US" sz="1250" dirty="0"/>
          </a:p>
          <a:p>
            <a:pPr indent="0" marL="0">
              <a:lnSpc>
                <a:spcPct val="125000"/>
              </a:lnSpc>
              <a:spcAft>
                <a:spcPts val="800"/>
              </a:spcAft>
              <a:buNone/>
            </a:pPr>
            <a:endParaRPr lang="en-US" sz="1250" dirty="0"/>
          </a:p>
          <a:p>
            <a:pPr marL="177800" indent="-177800">
              <a:lnSpc>
                <a:spcPct val="125000"/>
              </a:lnSpc>
              <a:spcAft>
                <a:spcPts val="800"/>
              </a:spcAft>
              <a:buSzPct val="100000"/>
              <a:buChar char="●"/>
            </a:pPr>
            <a:r>
              <a:rPr lang="en-US" sz="1250" dirty="0">
                <a:solidFill>
                  <a:srgbClr val="24262B"/>
                </a:solidFill>
                <a:latin typeface="Calibri" pitchFamily="34" charset="0"/>
                <a:ea typeface="Calibri" pitchFamily="34" charset="-122"/>
                <a:cs typeface="Calibri" pitchFamily="34" charset="-120"/>
              </a:rPr>
              <a:t>Role-based dashboards for owners, managers, and staff.</a:t>
            </a:r>
            <a:endParaRPr lang="en-US" sz="1250" dirty="0"/>
          </a:p>
        </p:txBody>
      </p:sp>
      <p:sp>
        <p:nvSpPr>
          <p:cNvPr id="8" name="Text 6"/>
          <p:cNvSpPr txBox="1"/>
          <p:nvPr/>
        </p:nvSpPr>
        <p:spPr>
          <a:xfrm>
            <a:off x="6551676" y="1965960"/>
            <a:ext cx="4814316" cy="1645920"/>
          </a:xfrm>
          <a:prstGeom prst="rect">
            <a:avLst/>
          </a:prstGeom>
          <a:noFill/>
          <a:ln/>
        </p:spPr>
        <p:txBody>
          <a:bodyPr wrap="square" lIns="0" tIns="0" rIns="0" bIns="0" rtlCol="0" anchor="ctr"/>
          <a:lstStyle/>
          <a:p>
            <a:pPr indent="0" marL="0">
              <a:lnSpc>
                <a:spcPct val="130000"/>
              </a:lnSpc>
              <a:buNone/>
            </a:pPr>
            <a:r>
              <a:rPr lang="en-US" sz="1300" dirty="0">
                <a:solidFill>
                  <a:srgbClr val="24262B"/>
                </a:solidFill>
                <a:latin typeface="Calibri" pitchFamily="34" charset="0"/>
                <a:ea typeface="Calibri" pitchFamily="34" charset="-122"/>
                <a:cs typeface="Calibri" pitchFamily="34" charset="-120"/>
              </a:rPr>
              <a:t>Integration with external payment gateways or third-party accounting software is not included in this phase. It is noted as potential future work once the core ERP workflow is established.</a:t>
            </a:r>
            <a:endParaRPr lang="en-US" sz="1300" dirty="0"/>
          </a:p>
        </p:txBody>
      </p:sp>
      <p:sp>
        <p:nvSpPr>
          <p:cNvPr id="9" name="Text 7"/>
          <p:cNvSpPr/>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11091672"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Literature Survey</a:t>
            </a:r>
            <a:endParaRPr lang="en-US" sz="3000" dirty="0"/>
          </a:p>
        </p:txBody>
      </p:sp>
      <p:sp>
        <p:nvSpPr>
          <p:cNvPr id="3" name="Text 1"/>
          <p:cNvSpPr txBox="1"/>
          <p:nvPr/>
        </p:nvSpPr>
        <p:spPr>
          <a:xfrm>
            <a:off x="548640" y="1234440"/>
            <a:ext cx="11091672" cy="2743200"/>
          </a:xfrm>
          <a:prstGeom prst="rect">
            <a:avLst/>
          </a:prstGeom>
          <a:noFill/>
          <a:ln/>
        </p:spPr>
        <p:txBody>
          <a:bodyPr wrap="square" lIns="0" tIns="0" rIns="0" bIns="0" rtlCol="0" anchor="ctr"/>
          <a:lstStyle/>
          <a:p>
            <a:pPr indent="0" marL="0">
              <a:lnSpc>
                <a:spcPct val="130000"/>
              </a:lnSpc>
              <a:buNone/>
            </a:pPr>
            <a:r>
              <a:rPr lang="en-US" sz="1450" dirty="0">
                <a:solidFill>
                  <a:srgbClr val="24262B"/>
                </a:solidFill>
                <a:latin typeface="Calibri" pitchFamily="34" charset="0"/>
                <a:ea typeface="Calibri" pitchFamily="34" charset="-122"/>
                <a:cs typeface="Calibri" pitchFamily="34" charset="-120"/>
              </a:rPr>
              <a:t>The literature survey draws on established ERP and SMB technology-adoption references, including studies on ERP adoption challenges and benefits for small and medium enterprises, which highlight the need for affordable, integrated systems over disconnected point solutions; documentation and case studies from open-source ERP frameworks such as Odoo and ERPNext, which illustrate common module structures for inventory, sales, HR, and finance; general enterprise-system design literature covering role-based access control and dashboard-driven analytics; and MERN-stack web development literature discussing MongoDB, Express.js, React.js, and Node.js for building scalable, JSON-native full-stack applications.</a:t>
            </a:r>
            <a:endParaRPr lang="en-US" sz="1450" dirty="0"/>
          </a:p>
        </p:txBody>
      </p:sp>
      <p:sp>
        <p:nvSpPr>
          <p:cNvPr id="4" name="Shape 2"/>
          <p:cNvSpPr/>
          <p:nvPr/>
        </p:nvSpPr>
        <p:spPr>
          <a:xfrm>
            <a:off x="548640" y="4160520"/>
            <a:ext cx="11091672" cy="1600200"/>
          </a:xfrm>
          <a:prstGeom prst="roundRect">
            <a:avLst>
              <a:gd name="adj" fmla="val 5714"/>
            </a:avLst>
          </a:prstGeom>
          <a:solidFill>
            <a:srgbClr val="E9EDFB"/>
          </a:solidFill>
          <a:ln/>
        </p:spPr>
      </p:sp>
      <p:sp>
        <p:nvSpPr>
          <p:cNvPr id="5" name="Text 3"/>
          <p:cNvSpPr txBox="1"/>
          <p:nvPr/>
        </p:nvSpPr>
        <p:spPr>
          <a:xfrm>
            <a:off x="822960" y="4343400"/>
            <a:ext cx="10543032" cy="1234440"/>
          </a:xfrm>
          <a:prstGeom prst="rect">
            <a:avLst/>
          </a:prstGeom>
          <a:noFill/>
          <a:ln/>
        </p:spPr>
        <p:txBody>
          <a:bodyPr wrap="square" lIns="0" tIns="0" rIns="0" bIns="0" rtlCol="0" anchor="ctr"/>
          <a:lstStyle/>
          <a:p>
            <a:pPr indent="0" marL="0">
              <a:lnSpc>
                <a:spcPct val="130000"/>
              </a:lnSpc>
              <a:buNone/>
            </a:pPr>
            <a:r>
              <a:rPr lang="en-US" sz="1350" i="1" dirty="0">
                <a:solidFill>
                  <a:srgbClr val="1E2761"/>
                </a:solidFill>
                <a:latin typeface="Calibri" pitchFamily="34" charset="0"/>
                <a:ea typeface="Calibri" pitchFamily="34" charset="-122"/>
                <a:cs typeface="Calibri" pitchFamily="34" charset="-120"/>
              </a:rPr>
              <a:t>These sources support the need for a unified data model, role-based access, and a suitable full-stack architecture for implementation. Exact references, editions, and citations should be verified against the final project literature requirements before submission.</a:t>
            </a:r>
            <a:endParaRPr lang="en-US" sz="1350" dirty="0"/>
          </a:p>
        </p:txBody>
      </p:sp>
      <p:sp>
        <p:nvSpPr>
          <p:cNvPr id="6" name="Text 4"/>
          <p:cNvSpPr/>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11091672"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Summary / Review Conclusion</a:t>
            </a:r>
            <a:endParaRPr lang="en-US" sz="3000" dirty="0"/>
          </a:p>
        </p:txBody>
      </p:sp>
      <p:sp>
        <p:nvSpPr>
          <p:cNvPr id="3" name="Text 1"/>
          <p:cNvSpPr txBox="1"/>
          <p:nvPr/>
        </p:nvSpPr>
        <p:spPr>
          <a:xfrm>
            <a:off x="548640" y="1371600"/>
            <a:ext cx="11091672" cy="1737360"/>
          </a:xfrm>
          <a:prstGeom prst="rect">
            <a:avLst/>
          </a:prstGeom>
          <a:noFill/>
          <a:ln/>
        </p:spPr>
        <p:txBody>
          <a:bodyPr wrap="square" lIns="0" tIns="0" rIns="0" bIns="0" rtlCol="0" anchor="ctr"/>
          <a:lstStyle/>
          <a:p>
            <a:pPr indent="0" marL="0">
              <a:lnSpc>
                <a:spcPct val="130000"/>
              </a:lnSpc>
              <a:buNone/>
            </a:pPr>
            <a:r>
              <a:rPr lang="en-US" sz="1550" dirty="0">
                <a:solidFill>
                  <a:srgbClr val="24262B"/>
                </a:solidFill>
                <a:latin typeface="Calibri" pitchFamily="34" charset="0"/>
                <a:ea typeface="Calibri" pitchFamily="34" charset="-122"/>
                <a:cs typeface="Calibri" pitchFamily="34" charset="-120"/>
              </a:rPr>
              <a:t>The project addresses the need for integrated, centralized management of inventory, sales, HR, finance, and procurement for small and medium businesses. The proposed MERN-based ERP platform will unify these operations in one workflow, with role-based access, data consistency, and real-time analytics dashboards as key objectives.</a:t>
            </a:r>
            <a:endParaRPr lang="en-US" sz="1550" dirty="0"/>
          </a:p>
        </p:txBody>
      </p:sp>
      <p:sp>
        <p:nvSpPr>
          <p:cNvPr id="4" name="Text 2"/>
          <p:cNvSpPr txBox="1"/>
          <p:nvPr/>
        </p:nvSpPr>
        <p:spPr>
          <a:xfrm>
            <a:off x="548640" y="3246120"/>
            <a:ext cx="11091672" cy="1737360"/>
          </a:xfrm>
          <a:prstGeom prst="rect">
            <a:avLst/>
          </a:prstGeom>
          <a:noFill/>
          <a:ln/>
        </p:spPr>
        <p:txBody>
          <a:bodyPr wrap="square" lIns="0" tIns="0" rIns="0" bIns="0" rtlCol="0" anchor="ctr"/>
          <a:lstStyle/>
          <a:p>
            <a:pPr indent="0" marL="0">
              <a:lnSpc>
                <a:spcPct val="130000"/>
              </a:lnSpc>
              <a:buNone/>
            </a:pPr>
            <a:r>
              <a:rPr lang="en-US" sz="1550" dirty="0">
                <a:solidFill>
                  <a:srgbClr val="24262B"/>
                </a:solidFill>
                <a:latin typeface="Calibri" pitchFamily="34" charset="0"/>
                <a:ea typeface="Calibri" pitchFamily="34" charset="-122"/>
                <a:cs typeface="Calibri" pitchFamily="34" charset="-120"/>
              </a:rPr>
              <a:t>The scope covers the core ERP workflow across five modules, with payment-gateway and third-party accounting integration identified as future work. The literature survey grounds the design in recognized ERP practices and open-source frameworks such as Odoo and ERPNext.</a:t>
            </a:r>
            <a:endParaRPr lang="en-US" sz="1550" dirty="0"/>
          </a:p>
        </p:txBody>
      </p:sp>
      <p:sp>
        <p:nvSpPr>
          <p:cNvPr id="5" name="Text 3"/>
          <p:cNvSpPr/>
          <p:nvPr/>
        </p:nvSpPr>
        <p:spPr>
          <a:xfrm>
            <a:off x="11640312" y="6446520"/>
            <a:ext cx="36576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2026-09-16T03:49:02Z</dcterms:created>
  <dcterms:modified xsi:type="dcterms:W3CDTF">2026-09-16T03:49:02Z</dcterms:modified>
</cp:coreProperties>
</file>